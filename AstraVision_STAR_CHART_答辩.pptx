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60" userDrawn="1">
          <p15:clr>
            <a:srgbClr val="747775"/>
          </p15:clr>
        </p15:guide>
        <p15:guide id="2" pos="304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1" y="38"/>
      </p:cViewPr>
      <p:guideLst>
        <p:guide orient="horz" pos="1760"/>
        <p:guide pos="30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各位评委好，我们的作品面向本届赛题提供的开运一号天基观测序列，在同一套纯 CPU、可离线复现的流程里完成三件事：星点统计、星等估计和多目标运动分析。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这套数据一共 15 帧、每帧 4096 乘 4096，总时长约 21 秒。我们没有使用神经网络，也不依赖联网真值，而是把天文测光、天测定标和时序关联的经典方法做成了可复现的判据链。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接下来我会先讲清楚赛题和数据，再按三条任务线汇报方法、结果和边界。封面队伍信息为占位，请在提交前替换为本校信息。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赛题要求用同一套数据回答三类问题：星图识别 25 分，要求星点计数和最暗星星等两个方向都完成，只做一个方向会被封顶；星图分析 35 分，是分值最重的部分，要求在 15 帧里恢复运动目标；创新赛项 30 分，鼓励提取星等之外的有用数据。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右侧是数据集的客观事实：15 帧、每帧 4096 乘 4096 的有符号 16 位像素，整段观测只有 21 秒，单帧曝光 1.5 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需要特别说明，随数据的格式说明把像幅写成了 4096 乘 4098，但我们逐文件核对后确认真实布局是 4096 乘 4096，全篇以文件真实布局为准。演示统一选用第 8 帧 f7，裁判若指定其他帧，数字会相应变化、需要重跑。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整体流程是一条主干加两条判据链。主干先把官方数据治理正确：屏蔽首行遥测和异常像素、做背景建模，然后检测源并做质心和孔径测光，最后在密集星场里把 15 帧配准到同一参考帧。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配准之后分成两条链：恒星链用更高的 5 西格玛阈值和跨帧复现来统计稳定星点、定位最暗星，再用离线 Gaia 星表定标；运动链反而用更宽松的 4 西格玛搜索，先剔除静止源，再按真实时间戳做线性关联，最后用曝光拖尾做物理一致性核验。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所有结果都落成逐源、逐帧的 CSV、记录全参数和输入哈希的 JSON，以及标注图；全程纯 CPU、不用神经网络、断网可运行。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这一页讲三个容易被专家追问的适配细节，也是我们相对常规处理的差异点。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第一，每帧首行 208 字节不是星像，而是按官方附录存放的 26 个双精度遥测量，读取时要先做 16 位字节交换，我们解码后核对指向、位置和四元数自洽，再把整行屏蔽，绝不让它进光学检测。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第二，像素是有符号 16 位、BZERO 为 0，如果按无符号读，负值会翻成几万的大正值、制造假星；我们屏蔽负值、饱和像素及其 8 像素邻域。第三，天基的恒星背景本身基本静止，不能套用地基“不动就是坏点”的经验，也不把安装角当成机架状态，而是先逐帧配准背景再找相对运动。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我们没有把“超过某个阈值的亮斑”直接当成星点，而是要求同时满足五级判据：显著性、点状形态、完整孔径和正流量、跨帧复现，最后才计为候选。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这里解释两档阈值的用意：星点报告链用 5 西格玛，宁可少而可信；运动目标搜索链用 4 西格玛，宁可先全搜上来，再靠时间序列和形态把假源剔掉，避免暗弱运动目标在第一关就被漏掉。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孔径测光在质心周围取半径 5 像素的圆孔、扣除局部背景。也要诚实说明边界：如果某个固定缺陷在多帧稳定复现，理论上仍可能通过，这也是后续要靠定标和完备性实验进一步约束的地方。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这是星点计数的三级漏斗。5 西格玛分割得到 15,238 个源；要求点状形态和正孔径流量后剩 14,278 个；再要求在 f4 到 f9 六帧里至少四帧复现，最终得到 12,842 个跨帧恒星候选。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请评委特别注意口径：12,842 是跨帧恒星候选数，不是恒星真值总数，我们不说“识别了全部恒星”。84.3% 只是筛选保留比例。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因为赛题没有提供真值、我们也没有做人工注入回收实验，所以这里不报准确率或召回率，避免用筛选比例冒充检测性能。数字对应演示帧 f7，换帧需要重跑。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 12,842 个候选里，孔径流量最小、也就是最暗的候选编号 6957，位于 f7 的 x=973.24、y=2164.70，这里坐标 0 起算、x 是列、y 是行。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它在半径 5 像素孔径里、扣除局部背景后的流量约 231.2 ADU，并且在 f4 到 f9 六帧核验窗里有四帧在 3 像素内复现，不是单帧噪声。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右图是它的局部像素放大，橙圈标出位置。要强调两点口径：这是候选集内最暗的星，不等于整幅图的探测极限；坐标是 f7 原图的像素坐标，不是天球坐标。它的星等我们在下一页用离线 Gaia 定标给出。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星等用经典的 Pogson 对数关系：星等约等于负 2.5 乘以流量率的对数，再加测光零点。把最暗候选的孔径流量 231.2 ADU、曝光 1.5 秒和零点 19.9978 代入，得到约 14.53。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关键在零点怎么来：我们不联网、也不把星表真值喂给检测链，而是在独立检测完成后，用离线 Gaia DR3 星表做三角形匹配盲初始化，再用二次切平面拟合图像坐标到天球坐标，一对一互匹配后用 3 西格玛和 MAD 稳健剪裁，最后用 460 颗参考星定出稳健零点。共 588 对位置匹配，位置 RMS 0.823 角秒，像元尺度约 8.443 角秒每像素。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口径必须讲清：相机波段响应未知，所以这是 Gaia G 波段参照的近似星等，不是标准 V 星等，也不声称精确 G；0.086 星等是零点配对的散度，不是这颗暗源自身的总误差。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动目标识别的核心逻辑是：先把恒星背景对齐，再找相对背景持续运动的源。密集星场里不能对上万源做两两配准，我们每帧只取最多 250 个紧致亮源，逐帧直接配到参考帧，配合一对一匹配、残差剪裁和 RMS 上限。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14 次帧间配准的内点 RMS 中位只有 0.0643 像素、最大 0.1076，整段星场中心漂移仅 0.531 像素，说明背景对齐很可靠。配准后，跨帧命中四次以上的源当作静止恒星剔除；剩余源按真实 UTC 时间戳做两点假设和最小二乘直线拟合。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一条轨迹必须同时满足至少四帧、连续漏检不超过两次、速度在 1 到 150 像素每秒、拟合 RMS 不超过 1.5 像素，且观测不能被重复使用。要说明 1 到 150 是预设判决窗，实测速度在下一页，短弧匀速直线是建模近似。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经过判据链，15 帧里一共得到 26 条运动候选轨迹、294 行逐帧位置，每条覆盖 4 到 15 帧不等。左图是它们在参考帧像素坐标上的轨迹全景，右图选了 T1、T21、T22 三条，给出三个时刻的原图切片，可以看到目标在恒星背景间移动。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速度以参考帧像素计，在 5.68 到 38.41 像素每秒之间：T1 约 5.9、贯穿 15 帧最稳定；T21 约 38.4、最快，切片里能看到明显长拖尾。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这里有三条口径必须讲清：T 加数字只是本轮候选编号，不是任何卫星目录号；我们不对目标身份做判定，也不声称这是完备普查；轨迹坐标是参考帧像素，因为 FITS 没有 WCS，不能直接当赤经赤纬。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时序拟合会产生若干条候选假设，但点在多帧里近似共线还不够，我们再加一道物理核验：目标在单次曝光内若匀速直线运动，应留下长度约等于速度乘曝光时间的拖影。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实测拖尾用亮度分布的二阶矩估计，圆星点下长度约为 12 倍主次二阶矩之差开根号。我们同时比较长度和方向：长度比在 0.35 到 2.5、方向余弦不低于 0.8、且该轨迹至少一半观测相容才保留；帧内位移小于 6 像素时拖尾不可分辨，不做要求。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28 条时序假设里有 2 条没过这一关，例如 f1 上一条预测拖尾约 206 像素、实测只有 1.38 像素、方向也不符，被拒绝，最终保留 26 条。要说明这是用物理一致性剔除不相容假设，不等于用真值证实消除了假阳性，属于加约束前后的对照，不是完整消融实验。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除了完成赛题规定的识别，我们还从官方辅助数据和流程残差里提取了三类在轨分析数据，每条都给出数值、方法、用途和边界。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第一类是平台遥测：首行 208 字节解出拍摄卫星在 WGS84 下高度约 504.7 公里、J2000 速度约 7.61 公里每秒，可用于无 GPS 时的平台核对，但这是拍摄卫星自己的状态，不是被摄目标。第二类是指向稳定度：星场中心整段只漂移 0.531 像素、帧间配准 RMS 中位 0.0643，可评估长曝光姿态稳定度，但像素漂移未经焦距标定，不等于姿态角。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第三类是成像质量：背景中位约 20 ADU、噪声 RMS 约 7.7、屏蔽区约 0.55%，右图三联子图显示 15 帧几乎平直，说明全序列检测口径一致。要强调 ADU 不是天光面亮度，屏蔽区包含首行遥测，不能当成坏像元率。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这一页给两个面向编目的创新特征。第四是离线天测定标：像元尺度约 8.443 角秒每像素、位置匹配 RMS 0.823 角秒、测光零点 19.9978，使像素坐标可以换算到天球、流量可以换算到星等，这是后续和星表目录做关联的前置几何与光度基准。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第五是运动特征：用像元尺度把像素速度换算成角速度，26 条候选在约 47.9 到 324.3 角秒每秒，T21 最快，约 20 条聚集在 48 到 54，右图速度分布能清楚看到这个低速目标群。这类角速度特征可用于 LEO 短弧目标的初分选和异常速度标记。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边界要讲清：天测板解依赖离线 Gaia 星表、FITS 本身没有 WCS；角速度是参考帧投影下的短弧线性近似，我们不输出轨道根数，也不判定目标身份或声称完备。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实用性这一页把每一项分析数据映射到具体场景：平台遥测用于无 GPS 时的平台核对和时间基准；指向漂移和配准残差用于评估长曝光姿态稳定度；天测定标给出像素到天球的几何，是编目关联的前置；测光零点让恒星场可以在轨自定标、不依赖地面站。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角速度特征用于 LEO 短弧目标的初分选和异常速度标记；26 条轨迹和 294 行逐帧位置可以直接进入空间编目维护和碎片监测。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定位要讲准：我们做的是天基观测的预处理环节，输出结构化结果供后续轨道确定和编目使用，不替代轨道确定和身份识别；候选是否完备，要靠下一页提到的注入回收实验来评估。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可信度设计成一条完整追溯链：输入端 15 个 FITS 逐一记录 SHA-256，Gaia 星表 CSV 也留哈希；所有阈值集中在一个配置文件、参考帧和时间窗全部记录；输出端 report.json 记录全部数值，离线复验时两份 CSV 字节一致、JSON 除耗时字段外完全一致。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复现只需一条命令，在禁网的 CPU 镜像里运行，不依赖 GPU、深度学习或联网。RST19 回归 152 项加定标拖尾专项 16 项全部通过；本机分析约 79 秒、离线复验约 83 秒，镜像约 1.01 GB。历史全量 569 项里是 563 过、6 跳过，我们不把它说成 569 全过。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边界同样写明：我们验证的是同机同镜像可复现，没有证明在所有裁判硬件上逐位等价；离线运行需要评委预先导入镜像和 Gaia 星表数据。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最后一页我们把“做到了什么”和“没有声称什么”并排放在一起。左侧是三项任务的结论：星点识别得到 12,842 个跨帧恒星候选，星等估计给出最暗候选约 14.53，星图分析得到 26 条运动候选和 294 行位置，并用拖尾物理核验把 28 条假设收敛到 26；工程上纯 CPU、禁网、一条命令复现，测试全过。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右侧是七条边界红线，包括候选数不是真值总数、星等是 G 参照、不报准确率召回率、504 公里是拍摄卫星高度、轨迹是像素坐标、演示帧换帧要重跑等。我们主动把边界讲在前面，因为这些结论都可以被复核和证伪。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下一步计划用注入回收实验量化完备性和虚警、补相机波段响应和严格的星等误差传播。汇报到此结束，恳请各位评委批评指正，谢谢！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microsoft.com/office/2007/relationships/hdphoto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microsoft.com/office/2007/relationships/hdphoto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microsoft.com/office/2007/relationships/hdphoto" Target="../media/image5.jpeg"/><Relationship Id="rId3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.png"/><Relationship Id="rId3" Type="http://schemas.microsoft.com/office/2007/relationships/hdphoto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microsoft.com/office/2007/relationships/hdphoto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microsoft.com/office/2007/relationships/hdphoto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microsoft.com/office/2007/relationships/hdphoto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8" r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图片 7" descr="7b0a202020202266696c746572223a202230220a7d0a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CDFE0825-6DEF-4EF5-8246-60DE8C826C90}">
                <a14:imgProps xmlns:a14="http://schemas.microsoft.com/office/drawing/2010/main">
                  <a14:imgLayer r:embed="rId4">
                    <a14:imgEffect name="7"/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949960" y="3192780"/>
            <a:ext cx="14091920" cy="1784032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3" name="AutoShape 3"/>
          <p:cNvSpPr/>
          <p:nvPr/>
        </p:nvSpPr>
        <p:spPr>
          <a:xfrm>
            <a:off x="270510" y="217805"/>
            <a:ext cx="787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dirty="0" err="1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第十九届先进机器人及仿真技术大赛</a:t>
            </a:r>
            <a:r>
              <a:rPr lang="en-US" b="0" i="0" u="none" strike="noStrike" dirty="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b="0" i="0" u="none" strike="noStrike" dirty="0" err="1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仿真技术赛道</a:t>
            </a:r>
            <a:r>
              <a:rPr lang="en-US" b="0" i="0" u="none" strike="noStrike" dirty="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太空目标识别仿真组（B02）</a:t>
            </a:r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>
            <a:off x="270510" y="2605405"/>
            <a:ext cx="7209155" cy="1290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dirty="0" err="1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开运一号</a:t>
            </a:r>
            <a:r>
              <a:rPr lang="en-US" b="0" i="0" u="none" strike="noStrike" dirty="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15 </a:t>
            </a:r>
            <a:r>
              <a:rPr lang="en-US" b="0" i="0" u="none" strike="noStrike" dirty="0" err="1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帧天基</a:t>
            </a:r>
            <a:r>
              <a:rPr lang="en-US" b="0" i="0" u="none" strike="noStrike" dirty="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FITS </a:t>
            </a:r>
            <a:r>
              <a:rPr lang="en-US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序列</a:t>
            </a:r>
            <a:r>
              <a:rPr lang="en-US" b="0" i="0" u="none" strike="noStrike" dirty="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·  </a:t>
            </a:r>
            <a:r>
              <a:rPr lang="en-US" b="0" i="0" u="none" strike="noStrike" dirty="0" err="1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省赛方案介绍</a:t>
            </a:r>
            <a:endParaRPr lang="en-US" dirty="0"/>
          </a:p>
        </p:txBody>
      </p:sp>
      <p:sp>
        <p:nvSpPr>
          <p:cNvPr id="9" name="AutoShape 9"/>
          <p:cNvSpPr/>
          <p:nvPr/>
        </p:nvSpPr>
        <p:spPr>
          <a:xfrm>
            <a:off x="270510" y="4208145"/>
            <a:ext cx="7214235" cy="13944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参赛队伍：AstraVision</a:t>
            </a:r>
            <a:endParaRPr lang="en-US" sz="1800"/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指导教师：</a:t>
            </a:r>
            <a:r>
              <a:rPr lang="zh-CN" alt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林家辉</a:t>
            </a:r>
            <a:endParaRPr lang="en-US" sz="18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参赛队员：</a:t>
            </a:r>
            <a:r>
              <a:rPr lang="zh-CN" alt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周云翔</a:t>
            </a:r>
            <a:r>
              <a:rPr lang="en-US" altLang="zh-CN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聂竹唯</a:t>
            </a:r>
            <a:r>
              <a:rPr lang="en-US" altLang="zh-CN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叶博尔</a:t>
            </a:r>
            <a:r>
              <a:rPr lang="en-US" altLang="zh-CN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袁歆</a:t>
            </a:r>
            <a:r>
              <a:rPr lang="en-US" altLang="zh-CN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altLang="zh-CN" sz="18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altLang="zh-CN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       </a:t>
            </a:r>
            <a:r>
              <a:rPr lang="zh-CN" alt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贺誉程</a:t>
            </a:r>
            <a:r>
              <a:rPr lang="en-US" altLang="zh-CN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王衍智</a:t>
            </a:r>
            <a:endParaRPr lang="en-US" sz="18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18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0510" y="1761490"/>
            <a:ext cx="33769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5400" b="1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</a:t>
            </a:r>
            <a:r>
              <a:rPr lang="en-US" sz="40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altLang="en-US" sz="4000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12800" y="640080"/>
            <a:ext cx="11112500" cy="55772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36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面向官方天基序列的</a:t>
            </a:r>
            <a:endParaRPr lang="en-US" sz="3200">
              <a:solidFill>
                <a:schemeClr val="bg1"/>
              </a:solidFill>
            </a:endParaRPr>
          </a:p>
          <a:p>
            <a:pPr marL="0" indent="0" algn="r">
              <a:lnSpc>
                <a:spcPct val="108000"/>
              </a:lnSpc>
            </a:pPr>
            <a:r>
              <a:rPr lang="en-US" sz="72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星点识别</a:t>
            </a:r>
            <a:endParaRPr lang="en-US" sz="72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r">
              <a:lnSpc>
                <a:spcPct val="108000"/>
              </a:lnSpc>
            </a:pPr>
            <a:r>
              <a:rPr lang="en-US" sz="72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星等估计</a:t>
            </a:r>
            <a:endParaRPr lang="en-US" sz="72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r">
              <a:lnSpc>
                <a:spcPct val="108000"/>
              </a:lnSpc>
            </a:pPr>
            <a:r>
              <a:rPr lang="en-US" sz="72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与多目标运动分析</a:t>
            </a:r>
            <a:endParaRPr lang="en-US" sz="72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椭圆 45"/>
          <p:cNvSpPr/>
          <p:nvPr/>
        </p:nvSpPr>
        <p:spPr>
          <a:xfrm>
            <a:off x="-5100955" y="-267970"/>
            <a:ext cx="7535545" cy="7424420"/>
          </a:xfrm>
          <a:prstGeom prst="ellips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7b0a202020202266696c746572223a202230220a7d0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CDFE0825-6DEF-4EF5-8246-60DE8C826C90}">
                <a14:imgProps xmlns:a14="http://schemas.microsoft.com/office/drawing/2010/main">
                  <a14:imgLayer r:embed="rId3">
                    <a14:imgEffect name="7"/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862195" y="-1167765"/>
            <a:ext cx="6987540" cy="884872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" name="AutoShape 2"/>
          <p:cNvSpPr/>
          <p:nvPr/>
        </p:nvSpPr>
        <p:spPr>
          <a:xfrm>
            <a:off x="1129030" y="26416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赛题与数据　CHALLENGE &amp; DATASET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061210" y="685165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一套天基序列，回答三个赛题问题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752600" y="14986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25</a:t>
            </a:r>
            <a:endParaRPr lang="en-US" sz="40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642870" y="1760855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星图识别　星点 + 星等</a:t>
            </a:r>
            <a:endParaRPr lang="en-US" sz="20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883535" y="2286000"/>
            <a:ext cx="4114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指定单帧统计星点总数，并在同帧定位最暗星、标注星等；两个方向同时完成方达最高档。</a:t>
            </a:r>
            <a:endParaRPr lang="en-US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125345" y="319151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bg2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35</a:t>
            </a:r>
            <a:endParaRPr lang="en-US" sz="4000" b="1" i="0" u="none" strike="noStrike">
              <a:solidFill>
                <a:schemeClr val="bg2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949575" y="34417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星图分析　多目标运动</a:t>
            </a:r>
            <a:endParaRPr lang="en-US" sz="20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768600" y="3911600"/>
            <a:ext cx="4114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 15 帧序列把运动目标与静止恒星分开，恢复每条目标的逐帧轨迹与运动特征。</a:t>
            </a:r>
            <a:endParaRPr lang="en-US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501140" y="488442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bg2">
                    <a:lumMod val="40000"/>
                    <a:lumOff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30</a:t>
            </a:r>
            <a:endParaRPr lang="en-US" sz="4000" b="1" i="0" u="none" strike="noStrike">
              <a:solidFill>
                <a:schemeClr val="bg2">
                  <a:lumMod val="40000"/>
                  <a:lumOff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2311400" y="5122545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创新赛项　附加数据</a:t>
            </a:r>
            <a:endParaRPr lang="en-US" sz="20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2261870" y="5519420"/>
            <a:ext cx="4114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遥测反演、天测/测光定标、运动特征量、成像质量统计等星等之外的可分析数据。</a:t>
            </a:r>
            <a:endParaRPr lang="en-US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432800" y="377190"/>
            <a:ext cx="3488690" cy="5758815"/>
          </a:xfrm>
          <a:prstGeom prst="roundRect">
            <a:avLst/>
          </a:prstGeom>
          <a:solidFill>
            <a:srgbClr val="4E94D9">
              <a:alpha val="6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685530" y="538480"/>
            <a:ext cx="2761615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官方数据集 · 开运一号天基序列</a:t>
            </a:r>
            <a:endParaRPr lang="en-US" sz="16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85530" y="12192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帧数</a:t>
            </a:r>
            <a:endParaRPr lang="en-US" sz="16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232900" y="1219200"/>
            <a:ext cx="289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15 帧 FITS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685530" y="176022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像幅</a:t>
            </a:r>
            <a:endParaRPr lang="en-US" sz="16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344025" y="1760220"/>
            <a:ext cx="289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4096 × 4096 px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685530" y="230124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像素类型</a:t>
            </a:r>
            <a:endParaRPr lang="en-US" sz="16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733280" y="2337435"/>
            <a:ext cx="289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BITPIX=16，有符号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（BZERO=0）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685530" y="2860675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观测时段</a:t>
            </a:r>
            <a:endParaRPr lang="en-US" sz="16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9733280" y="2990850"/>
            <a:ext cx="2458720" cy="2749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2026-03-30 16:32 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UTC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685530" y="345567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时间跨度</a:t>
            </a:r>
            <a:endParaRPr lang="en-US" sz="16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685655" y="3472180"/>
            <a:ext cx="289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21.014 s</a:t>
            </a:r>
            <a:endParaRPr lang="en-US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685530" y="4083685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单帧曝光</a:t>
            </a:r>
            <a:endParaRPr lang="en-US" sz="16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685655" y="4084320"/>
            <a:ext cx="289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1.5 s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685530" y="4647565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帧间隔中位</a:t>
            </a:r>
            <a:endParaRPr lang="en-US" sz="16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963150" y="4647565"/>
            <a:ext cx="289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1.501 s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685530" y="521081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演示帧</a:t>
            </a:r>
            <a:endParaRPr lang="en-US" sz="16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486900" y="5234305"/>
            <a:ext cx="289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f7（第 8 帧，0 起算）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685530" y="5658485"/>
            <a:ext cx="3205480" cy="396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格式说明曾写 4096×4098；</a:t>
            </a:r>
            <a:r>
              <a:rPr lang="zh-CN" altLang="en-US" sz="8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</a:t>
            </a:r>
            <a:r>
              <a:rPr lang="en-US" sz="8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文件真实布局 4096×4096 为准。</a:t>
            </a:r>
            <a:endParaRPr lang="en-US" sz="800"/>
          </a:p>
        </p:txBody>
      </p:sp>
      <p:cxnSp>
        <p:nvCxnSpPr>
          <p:cNvPr id="37" name="Connector 37"/>
          <p:cNvCxnSpPr/>
          <p:nvPr/>
        </p:nvCxnSpPr>
        <p:spPr>
          <a:xfrm flipV="1">
            <a:off x="8571875" y="1003375"/>
            <a:ext cx="3082925" cy="381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1320800" y="6384925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数据来源：赛题官方 15 帧 FITS（data/rst19）；分值依据 B02 评审标准</a:t>
            </a:r>
            <a:endParaRPr lang="en-US"/>
          </a:p>
        </p:txBody>
      </p:sp>
      <p:sp>
        <p:nvSpPr>
          <p:cNvPr id="39" name="AutoShape 39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/ 16</a:t>
            </a:r>
            <a:endParaRPr lang="en-US" sz="1100"/>
          </a:p>
        </p:txBody>
      </p:sp>
      <p:sp>
        <p:nvSpPr>
          <p:cNvPr id="40" name="文本框 39"/>
          <p:cNvSpPr txBox="1"/>
          <p:nvPr/>
        </p:nvSpPr>
        <p:spPr>
          <a:xfrm>
            <a:off x="11922125" y="652081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  <p:pic>
        <p:nvPicPr>
          <p:cNvPr id="53" name="图片 52" descr="7b0a202020202266696c746572223a202230220a7d0a"/>
          <p:cNvPicPr/>
          <p:nvPr>
            <p:custDataLst>
              <p:tags r:id="rId2"/>
            </p:custDataLst>
          </p:nvPr>
        </p:nvPicPr>
        <p:blipFill>
          <a:blip r:embed="rId3">
            <a:alphaModFix amt="20000"/>
            <a:extLst>
              <a:ext uri="{CDFE0825-6DEF-4EF5-8246-60DE8C826C90}">
                <a14:imgProps xmlns:a14="http://schemas.microsoft.com/office/drawing/2010/main">
                  <a14:imgLayer r:embed="rId4">
                    <a14:imgEffect name="11"/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450" y="1526540"/>
            <a:ext cx="11663680" cy="4874895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297815" y="20447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技术路线　PIPELINE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97815" y="130810"/>
            <a:ext cx="11233150" cy="1395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一条主干、两条判据链：先把数据治理对，再分流识别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" y="1689100"/>
            <a:ext cx="1828800" cy="685800"/>
          </a:xfrm>
          <a:prstGeom prst="roundRect">
            <a:avLst/>
          </a:prstGeom>
          <a:solidFill>
            <a:schemeClr val="bg2">
              <a:lumMod val="20000"/>
              <a:lumOff val="80000"/>
              <a:alpha val="10000"/>
            </a:schemeClr>
          </a:solidFill>
          <a:ln w="12700" cap="flat" cmpd="sng">
            <a:solidFill>
              <a:schemeClr val="bg2">
                <a:lumMod val="75000"/>
                <a:alpha val="45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官方 15 帧</a:t>
            </a:r>
            <a:endParaRPr lang="en-US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</a:pPr>
            <a:r>
              <a:rPr lang="en-US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天基 FITS</a:t>
            </a:r>
            <a:endParaRPr lang="en-US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132705" y="1665605"/>
            <a:ext cx="1828800" cy="685800"/>
          </a:xfrm>
          <a:prstGeom prst="roundRect">
            <a:avLst/>
          </a:prstGeom>
          <a:solidFill>
            <a:schemeClr val="bg2">
              <a:lumMod val="20000"/>
              <a:lumOff val="80000"/>
              <a:alpha val="30000"/>
            </a:schemeClr>
          </a:solidFill>
          <a:ln w="12700" cap="flat" cmpd="sng">
            <a:solidFill>
              <a:schemeClr val="bg2">
                <a:lumMod val="75000"/>
                <a:alpha val="45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背景建模</a:t>
            </a:r>
            <a:endParaRPr 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（网格中值）</a:t>
            </a:r>
            <a:endParaRPr lang="en-US" sz="14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825115" y="1689100"/>
            <a:ext cx="1828800" cy="685800"/>
          </a:xfrm>
          <a:prstGeom prst="roundRect">
            <a:avLst/>
          </a:prstGeom>
          <a:solidFill>
            <a:schemeClr val="bg2">
              <a:lumMod val="20000"/>
              <a:lumOff val="80000"/>
              <a:alpha val="20000"/>
            </a:schemeClr>
          </a:solidFill>
          <a:ln w="12700" cap="flat" cmpd="sng">
            <a:solidFill>
              <a:schemeClr val="bg2">
                <a:lumMod val="75000"/>
                <a:alpha val="45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遥测行屏蔽</a:t>
            </a:r>
            <a:endParaRPr lang="en-US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</a:pPr>
            <a:r>
              <a:rPr lang="en-US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异常像素治理</a:t>
            </a:r>
            <a:endParaRPr lang="en-US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9753600" y="1665605"/>
            <a:ext cx="1828800" cy="685800"/>
          </a:xfrm>
          <a:prstGeom prst="roundRect">
            <a:avLst/>
          </a:prstGeom>
          <a:solidFill>
            <a:schemeClr val="bg2">
              <a:lumMod val="20000"/>
              <a:lumOff val="80000"/>
              <a:alpha val="50000"/>
            </a:schemeClr>
          </a:solidFill>
          <a:ln w="12700" cap="flat" cmpd="sng">
            <a:solidFill>
              <a:schemeClr val="bg2">
                <a:alpha val="50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密集场帧间</a:t>
            </a:r>
            <a:endParaRPr lang="en-US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</a:pPr>
            <a:r>
              <a:rPr lang="en-US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配准（f0）</a:t>
            </a:r>
            <a:endParaRPr lang="en-US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459980" y="1677035"/>
            <a:ext cx="1828800" cy="685800"/>
          </a:xfrm>
          <a:prstGeom prst="roundRect">
            <a:avLst/>
          </a:prstGeom>
          <a:solidFill>
            <a:schemeClr val="bg2">
              <a:lumMod val="20000"/>
              <a:lumOff val="80000"/>
              <a:alpha val="40000"/>
            </a:schemeClr>
          </a:solidFill>
          <a:ln w="12700" cap="flat" cmpd="sng">
            <a:solidFill>
              <a:schemeClr val="bg2">
                <a:alpha val="45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源检测 + 质心</a:t>
            </a:r>
            <a:endParaRPr lang="en-US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</a:pPr>
            <a:r>
              <a:rPr lang="en-US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孔径测光</a:t>
            </a:r>
            <a:endParaRPr lang="en-US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>
            <a:off x="9356725" y="2015490"/>
            <a:ext cx="234648" cy="465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6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4" name="Connector 14"/>
          <p:cNvCxnSpPr/>
          <p:nvPr/>
        </p:nvCxnSpPr>
        <p:spPr>
          <a:xfrm rot="5185419">
            <a:off x="10401300" y="24703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-6010">
            <a:off x="3251206" y="2565400"/>
            <a:ext cx="726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5228255">
            <a:off x="3111500" y="270525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C5B4">
                <a:alpha val="7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7" name="Connector 17"/>
          <p:cNvCxnSpPr/>
          <p:nvPr/>
        </p:nvCxnSpPr>
        <p:spPr>
          <a:xfrm rot="5228255">
            <a:off x="8788400" y="2705894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E94D9">
                <a:alpha val="7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8" name="AutoShape 18"/>
          <p:cNvSpPr/>
          <p:nvPr/>
        </p:nvSpPr>
        <p:spPr>
          <a:xfrm>
            <a:off x="609600" y="2952750"/>
            <a:ext cx="5283200" cy="2489200"/>
          </a:xfrm>
          <a:prstGeom prst="roundRect">
            <a:avLst/>
          </a:prstGeom>
          <a:solidFill>
            <a:schemeClr val="bg2">
              <a:lumMod val="20000"/>
              <a:lumOff val="80000"/>
              <a:alpha val="60000"/>
            </a:schemeClr>
          </a:solidFill>
          <a:ln w="12700" cap="flat" cmpd="sng">
            <a:solidFill>
              <a:schemeClr val="bg2">
                <a:lumMod val="75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8200" y="3136900"/>
            <a:ext cx="4851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恒星链 · 星点统计与星等估计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9046">
            <a:off x="863608" y="3486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C5B4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8200" y="354965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03300" y="3549650"/>
            <a:ext cx="452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5σ 分割，筛点状、正孔径流量候选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8200" y="3917315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03300" y="3917315"/>
            <a:ext cx="452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f4–f9 共 6 帧中 ≥4 帧位置复现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38200" y="4251325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03300" y="4251325"/>
            <a:ext cx="452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定位候选集内最暗星并测孔径流量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38200" y="461137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03300" y="4611370"/>
            <a:ext cx="452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离线 Gaia DR3 天测 / 测光定标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38200" y="4948555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endParaRPr lang="en-US" sz="11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003300" y="4948555"/>
            <a:ext cx="452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输出 stars.csv（逐源）</a:t>
            </a:r>
            <a:endParaRPr lang="en-US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299200" y="2952750"/>
            <a:ext cx="5283200" cy="2489200"/>
          </a:xfrm>
          <a:prstGeom prst="roundRect">
            <a:avLst/>
          </a:prstGeom>
          <a:solidFill>
            <a:schemeClr val="bg2">
              <a:lumMod val="20000"/>
              <a:lumOff val="80000"/>
              <a:alpha val="60000"/>
            </a:schemeClr>
          </a:solidFill>
          <a:ln w="12700" cap="flat" cmpd="sng">
            <a:solidFill>
              <a:schemeClr val="bg2">
                <a:lumMod val="75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502400" y="3136900"/>
            <a:ext cx="4851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运动链 · 多目标轨迹恢复</a:t>
            </a:r>
            <a:endParaRPr lang="en-US" sz="20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3" name="Connector 33"/>
          <p:cNvCxnSpPr/>
          <p:nvPr/>
        </p:nvCxnSpPr>
        <p:spPr>
          <a:xfrm rot="-9046">
            <a:off x="6527808" y="3486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E94D9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6502400" y="354965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832600" y="3549650"/>
            <a:ext cx="452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4σ 宽松搜索全部源（约 1.85 万/帧）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6502400" y="3917315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832600" y="3917315"/>
            <a:ext cx="4521200" cy="254000"/>
          </a:xfrm>
          <a:prstGeom prst="round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配准后剔除静止源（跨帧命中 &lt;4）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6502400" y="429260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6832600" y="4292600"/>
            <a:ext cx="452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 UTC 两点假设 + 线性最小二乘关联</a:t>
            </a:r>
            <a:endParaRPr lang="en-US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6502400" y="461137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sz="11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6832600" y="4611370"/>
            <a:ext cx="452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曝光拖尾长度 / 方向一致性核验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6502400" y="4948555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endParaRPr lang="en-US" sz="11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6858000" y="4948555"/>
            <a:ext cx="452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输出 targets.csv（逐帧位置）</a:t>
            </a:r>
            <a:endParaRPr lang="en-US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643890" y="5607050"/>
            <a:ext cx="10972800" cy="591185"/>
          </a:xfrm>
          <a:prstGeom prst="roundRect">
            <a:avLst>
              <a:gd name="adj" fmla="val 0"/>
            </a:avLst>
          </a:prstGeom>
          <a:solidFill>
            <a:srgbClr val="9DB1C9">
              <a:alpha val="6000"/>
            </a:srgbClr>
          </a:solidFill>
          <a:ln w="12700" cap="flat" cmpd="sng">
            <a:solidFill>
              <a:srgbClr val="9DB1C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789305" y="5607050"/>
            <a:ext cx="1051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统一输出</a:t>
            </a: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CSV（逐源 / 逐帧）　·　report.json（全参数 + 输入 SHA-256）　·　候选 / 轨迹 / 拖尾标注图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789305" y="5886450"/>
            <a:ext cx="1051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运行环境：Python 科学栈（NumPy / SciPy / Astropy / Photutils），纯 CPU、无深度学习、禁网可复现</a:t>
            </a:r>
            <a:endParaRPr lang="en-US" sz="11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609600" y="6499225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来源：本队源码 src/space_pipeline.py 及 config/default.yaml；阈值见各判据页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10972800" y="6499225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/ 16</a:t>
            </a:r>
            <a:endParaRPr lang="en-US" sz="1100"/>
          </a:p>
        </p:txBody>
      </p:sp>
      <p:cxnSp>
        <p:nvCxnSpPr>
          <p:cNvPr id="47" name="Connector 10"/>
          <p:cNvCxnSpPr/>
          <p:nvPr/>
        </p:nvCxnSpPr>
        <p:spPr>
          <a:xfrm>
            <a:off x="7085330" y="2011045"/>
            <a:ext cx="234648" cy="465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6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50" name="Connector 10"/>
          <p:cNvCxnSpPr/>
          <p:nvPr/>
        </p:nvCxnSpPr>
        <p:spPr>
          <a:xfrm>
            <a:off x="4792345" y="2006600"/>
            <a:ext cx="234648" cy="465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6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51" name="Connector 10"/>
          <p:cNvCxnSpPr/>
          <p:nvPr/>
        </p:nvCxnSpPr>
        <p:spPr>
          <a:xfrm>
            <a:off x="2529205" y="2002155"/>
            <a:ext cx="234648" cy="465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6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 descr="7b0a202020202266696c746572223a202230220a7d0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CDFE0825-6DEF-4EF5-8246-60DE8C826C90}">
                <a14:imgProps xmlns:a14="http://schemas.microsoft.com/office/drawing/2010/main">
                  <a14:imgLayer r:embed="rId3">
                    <a14:imgEffect name="7"/>
                  </a14:imgLayer>
                </a14:imgProps>
              </a:ext>
            </a:extLst>
          </a:blip>
          <a:srcRect t="1027" b="-1027"/>
          <a:stretch>
            <a:fillRect/>
          </a:stretch>
        </p:blipFill>
        <p:spPr>
          <a:xfrm>
            <a:off x="838200" y="-356235"/>
            <a:ext cx="10253980" cy="1298511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37" name="图片 36" descr="7b0a202020202266696c746572223a202230220a7d0a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34" name="圆角矩形 33"/>
          <p:cNvSpPr/>
          <p:nvPr/>
        </p:nvSpPr>
        <p:spPr>
          <a:xfrm>
            <a:off x="8218170" y="1485265"/>
            <a:ext cx="3498215" cy="3951605"/>
          </a:xfrm>
          <a:prstGeom prst="roundRect">
            <a:avLst/>
          </a:prstGeom>
          <a:solidFill>
            <a:schemeClr val="bg1">
              <a:alpha val="6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4347210" y="1484630"/>
            <a:ext cx="3498215" cy="3951605"/>
          </a:xfrm>
          <a:prstGeom prst="roundRect">
            <a:avLst/>
          </a:prstGeom>
          <a:solidFill>
            <a:schemeClr val="bg1">
              <a:alpha val="6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75615" y="1484630"/>
            <a:ext cx="3498215" cy="3951605"/>
          </a:xfrm>
          <a:prstGeom prst="roundRect">
            <a:avLst/>
          </a:prstGeom>
          <a:solidFill>
            <a:schemeClr val="bg1">
              <a:alpha val="6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260985" y="2286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数据适配 · 创新点　DATA ADAPTATION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60985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先正确解码遥测与像素，后续识别才有可信前提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38200" y="16510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566">
            <a:off x="838213" y="27114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38200" y="2209800"/>
            <a:ext cx="29972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首行 208 字节是遥测，不是星像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38200" y="2844800"/>
            <a:ext cx="2997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常规处理误区</a:t>
            </a:r>
            <a:endParaRPr lang="en-US" sz="10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38200" y="3073400"/>
            <a:ext cx="2997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把首行当普通像素参与检测，或直接忽略其中的平台信息。</a:t>
            </a:r>
            <a:endParaRPr lang="en-US" sz="11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38200" y="3886200"/>
            <a:ext cx="2997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本项目做法</a:t>
            </a:r>
            <a:endParaRPr lang="en-US" sz="1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38200" y="4114800"/>
            <a:ext cx="29972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按官方附录解为 26 个 double（先做 16-bit 字节交换），校验指向、位置与四元数；整行屏蔽，不参与光学识别。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597400" y="2032000"/>
            <a:ext cx="29972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像素按有符号 16 位读取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14566">
            <a:off x="4597413" y="27114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97400" y="2844800"/>
            <a:ext cx="2997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常规处理误区</a:t>
            </a:r>
            <a:endParaRPr lang="en-US" sz="10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97400" y="3073400"/>
            <a:ext cx="2997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按无符号读取会把负值翻转为大正值，凭空制造亮源。</a:t>
            </a:r>
            <a:endParaRPr lang="en-US" sz="11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597400" y="3886200"/>
            <a:ext cx="2997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本项目做法</a:t>
            </a:r>
            <a:endParaRPr lang="en-US" sz="1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597400" y="4114800"/>
            <a:ext cx="29972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依 BITPIX=16、BZERO=0 做有符号处理；按当前策略屏蔽负值、≥30000 ADU 高值及其 8 px 邻域。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356600" y="16510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56600" y="2032000"/>
            <a:ext cx="29972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天基恒星背景基本静止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-14566">
            <a:off x="8356613" y="27114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356600" y="2844800"/>
            <a:ext cx="2997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常规处理误区</a:t>
            </a:r>
            <a:endParaRPr lang="en-US" sz="10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356600" y="3073400"/>
            <a:ext cx="2997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套用地基“长期不动即坏点”、机架角度等经验判据。</a:t>
            </a:r>
            <a:endParaRPr lang="en-US" sz="11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356600" y="3886200"/>
            <a:ext cx="2997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本项目做法</a:t>
            </a:r>
            <a:endParaRPr lang="en-US" sz="1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356600" y="4114800"/>
            <a:ext cx="29972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不把静止恒星当坏点；安装角 AZ=270/EL=0 仅记录、不当机架状态；先配准对齐背景再找运动。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09600" y="5537200"/>
            <a:ext cx="10972800" cy="53340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  <a:alpha val="60000"/>
            </a:schemeClr>
          </a:solidFill>
          <a:ln w="12700" cap="flat" cmpd="sng">
            <a:solidFill>
              <a:schemeClr val="accent1">
                <a:alpha val="35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38200" y="5664200"/>
            <a:ext cx="1051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</a:t>
            </a:r>
            <a:r>
              <a:rPr lang="en-US" sz="11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遥测仅用于平台核对与时间基准；负值不必然是坏点，30000 ADU 为当前屏蔽阈值，负值成因与饱和依据待核实。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来源：src/dataio/space_metadata.py、src/register/space.py、config/default.yaml；官方数据格式附录</a:t>
            </a:r>
            <a:endParaRPr lang="en-US" sz="10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/ 16</a:t>
            </a:r>
            <a:endParaRPr lang="en-US" sz="1100"/>
          </a:p>
        </p:txBody>
      </p:sp>
      <p:sp>
        <p:nvSpPr>
          <p:cNvPr id="35" name="AutoShape 6"/>
          <p:cNvSpPr/>
          <p:nvPr/>
        </p:nvSpPr>
        <p:spPr>
          <a:xfrm>
            <a:off x="4700905" y="1704975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椭圆 45"/>
          <p:cNvSpPr/>
          <p:nvPr/>
        </p:nvSpPr>
        <p:spPr>
          <a:xfrm>
            <a:off x="9838690" y="-283210"/>
            <a:ext cx="7535545" cy="7424420"/>
          </a:xfrm>
          <a:prstGeom prst="ellips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7b0a202020202266696c746572223a202230220a7d0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CDFE0825-6DEF-4EF5-8246-60DE8C826C90}">
                <a14:imgProps xmlns:a14="http://schemas.microsoft.com/office/drawing/2010/main">
                  <a14:imgLayer r:embed="rId3">
                    <a14:imgEffect name="7"/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07600" y="-1134745"/>
            <a:ext cx="6987540" cy="884872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星图识别 · 星点判据　STAR CRITERIA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一个“星点”须同时通过五级判据，而非单次阈值分割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80955" y="13716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4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758690" y="13716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显著性：高于局部背景 5σ</a:t>
            </a:r>
            <a:endParaRPr lang="en-US" sz="20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200525" y="182245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去异常邻域后估计背景与噪声，连通像素 ≥5 才算一个源。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23080" y="22987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点状形态：elongation ≤ 2.0</a:t>
            </a:r>
            <a:endParaRPr lang="en-US" sz="20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980815" y="26670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用二阶矩形状判据剔除长条、拖尾与非点状结构。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126230" y="31115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孔径完整、背景扣除后流量为正</a:t>
            </a:r>
            <a:endParaRPr lang="en-US" sz="20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060825" y="352425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r=5 px 圆形孔径不贴图像边界，背景扣除后孔径流量为正。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157345" y="412115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跨帧复现：f4–f9 中 ≥4/6 帧命中</a:t>
            </a:r>
            <a:endParaRPr lang="en-US" sz="20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402455" y="4424045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六帧核验窗内，半径 3 px 一对一位置复现至少 4 次。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66920" y="4918075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计为跨帧恒星候选</a:t>
            </a:r>
            <a:endParaRPr lang="en-US" sz="20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976495" y="52451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全部满足才进入星点计数与最暗星筛选（演示帧 f7）。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10235" y="1549400"/>
            <a:ext cx="4476115" cy="3818890"/>
          </a:xfrm>
          <a:prstGeom prst="roundRect">
            <a:avLst/>
          </a:prstGeom>
          <a:solidFill>
            <a:srgbClr val="4E94D9">
              <a:alpha val="5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63295" y="1758950"/>
            <a:ext cx="4013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为什么分 5σ / 4σ 两档阈值？</a:t>
            </a:r>
            <a:endParaRPr lang="en-US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-10878">
            <a:off x="902345" y="2190750"/>
            <a:ext cx="401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38200" y="2413000"/>
            <a:ext cx="4077335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σ 为局部背景噪声的标准差尺度。</a:t>
            </a:r>
            <a:endParaRPr lang="en-US"/>
          </a:p>
          <a:p>
            <a:pPr marL="0" indent="0" algn="l">
              <a:lnSpc>
                <a:spcPct val="133000"/>
              </a:lnSpc>
            </a:pPr>
            <a:r>
              <a:rPr lang="en-US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报告链 5σ：</a:t>
            </a: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宁严，保证星点可信；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运动链 4σ：</a:t>
            </a: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宁全，先全搜，再用时序与形态核验剔除假源。</a:t>
            </a:r>
            <a:endParaRPr lang="en-US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38200" y="3797300"/>
            <a:ext cx="1320800" cy="1320800"/>
          </a:xfrm>
          <a:prstGeom prst="ellipse">
            <a:avLst/>
          </a:prstGeom>
          <a:solidFill>
            <a:srgbClr val="4E94D9">
              <a:alpha val="6000"/>
            </a:srgbClr>
          </a:solidFill>
          <a:ln w="12700" cap="flat" cmpd="sng">
            <a:solidFill>
              <a:srgbClr val="4E94D9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244600" y="4203700"/>
            <a:ext cx="508000" cy="508000"/>
          </a:xfrm>
          <a:prstGeom prst="ellipse">
            <a:avLst/>
          </a:prstGeom>
          <a:solidFill>
            <a:srgbClr val="36C5B4">
              <a:alpha val="32000"/>
            </a:srgbClr>
          </a:solidFill>
          <a:ln w="12700" cap="flat" cmpd="sng">
            <a:solidFill>
              <a:srgbClr val="36C5B4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447800" y="4394200"/>
            <a:ext cx="101600" cy="101600"/>
          </a:xfrm>
          <a:prstGeom prst="ellipse">
            <a:avLst/>
          </a:prstGeom>
          <a:solidFill>
            <a:srgbClr val="F2A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2159000" y="3956050"/>
            <a:ext cx="1397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r=5 px 测光孔径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2057400" y="4657725"/>
            <a:ext cx="2700655" cy="5365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中心为 PSF 质心，外圈为测光孔径</a:t>
            </a:r>
            <a:endParaRPr lang="en-US" sz="1000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（示意，非真实比例）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10235" y="5727700"/>
            <a:ext cx="9396730" cy="45720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  <a:alpha val="60000"/>
            </a:schemeClr>
          </a:solidFill>
          <a:ln w="12700" cap="flat" cmpd="sng">
            <a:solidFill>
              <a:schemeClr val="accent1">
                <a:alpha val="35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38200" y="5800090"/>
            <a:ext cx="6569075" cy="311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</a:t>
            </a:r>
            <a:r>
              <a:rPr lang="en-US" sz="11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稳定复现的固定传感器缺陷理论上仍可能通过；阈值面向本数据分布，更换帧或数据需重新复核。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来源：src/detect、src/astrometry/photometry.py、src/analysis/star_catalog.py；阈值 config/default.yaml</a:t>
            </a:r>
            <a:endParaRPr lang="en-US" sz="1100"/>
          </a:p>
        </p:txBody>
      </p:sp>
      <p:sp>
        <p:nvSpPr>
          <p:cNvPr id="40" name="AutoShape 6"/>
          <p:cNvSpPr/>
          <p:nvPr/>
        </p:nvSpPr>
        <p:spPr>
          <a:xfrm>
            <a:off x="9777095" y="2206625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4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AutoShape 6"/>
          <p:cNvSpPr/>
          <p:nvPr/>
        </p:nvSpPr>
        <p:spPr>
          <a:xfrm>
            <a:off x="9728200" y="31369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4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2" name="AutoShape 6"/>
          <p:cNvSpPr/>
          <p:nvPr/>
        </p:nvSpPr>
        <p:spPr>
          <a:xfrm>
            <a:off x="9777095" y="4067175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sz="4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3" name="AutoShape 6"/>
          <p:cNvSpPr/>
          <p:nvPr/>
        </p:nvSpPr>
        <p:spPr>
          <a:xfrm>
            <a:off x="10128885" y="48387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endParaRPr lang="en-US" sz="40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10661015" y="64643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 / 16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星图识别 · 星点计数　STAR COUNT（演示帧 f7）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跨帧核验把 15,238 个分割源收敛为 12,842 个恒星候选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2908300" y="174371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5σ 分割源（去异常邻域后）</a:t>
            </a:r>
            <a:endParaRPr lang="en-US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833880" y="2118995"/>
            <a:ext cx="8427720" cy="558800"/>
          </a:xfrm>
          <a:prstGeom prst="roundRect">
            <a:avLst>
              <a:gd name="adj" fmla="val 0"/>
            </a:avLst>
          </a:prstGeom>
          <a:solidFill>
            <a:srgbClr val="9DB1C9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940300" y="221297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A1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15,238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965565" y="2158365"/>
            <a:ext cx="3124200" cy="4356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100%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654300" y="296545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 点状形态 + 正孔径流量候选（stars.csv，含未核验）</a:t>
            </a:r>
            <a:endParaRPr lang="en-US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654935" y="3321050"/>
            <a:ext cx="6858000" cy="558800"/>
          </a:xfrm>
          <a:prstGeom prst="roundRect">
            <a:avLst>
              <a:gd name="adj" fmla="val 0"/>
            </a:avLst>
          </a:prstGeom>
          <a:solidFill>
            <a:srgbClr val="4E94D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26000" y="337883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14,278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72600" y="3455035"/>
            <a:ext cx="88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93.7%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654300" y="418719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③ 通过 ≥4/6 帧跨帧核验的恒星候选（confirmed=True）</a:t>
            </a:r>
            <a:endParaRPr lang="en-US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137660" y="4535170"/>
            <a:ext cx="4145280" cy="558800"/>
          </a:xfrm>
          <a:prstGeom prst="roundRect">
            <a:avLst>
              <a:gd name="adj" fmla="val 0"/>
            </a:avLst>
          </a:prstGeom>
          <a:solidFill>
            <a:srgbClr val="36C5B4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720590" y="460692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814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12,842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29600" y="4700270"/>
            <a:ext cx="88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84.3%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937000" y="1224915"/>
            <a:ext cx="4546600" cy="6165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逐级判据只保留更可信的源：先剔非点状与异常孔径，再要求跨帧复现。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12300" y="5408930"/>
            <a:ext cx="2577465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12,842 是</a:t>
            </a:r>
            <a:r>
              <a:rPr lang="en-US" sz="1100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跨帧恒星候选</a:t>
            </a: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数，不等于恒星真值总数。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37490" y="5203190"/>
            <a:ext cx="2670175" cy="11874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无真值、未做注入回收，84.3% 是保留比例，不是准确率或召回率。</a:t>
            </a:r>
            <a:endParaRPr lang="en-US" sz="1000" b="0" i="0" u="none" strike="noStrike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091180" y="5594350"/>
            <a:ext cx="6111875" cy="462915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  <a:alpha val="60000"/>
            </a:schemeClr>
          </a:solidFill>
          <a:ln w="12700" cap="flat" cmpd="sng">
            <a:solidFill>
              <a:schemeClr val="accent1">
                <a:alpha val="35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635" y="5682615"/>
            <a:ext cx="1051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</a:t>
            </a:r>
            <a:r>
              <a:rPr lang="en-US" sz="11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计数随所选帧变化（演示帧 f7）；裁判指定其他帧需重跑，本页不报告准确率 / 召回率。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09600" y="6400800"/>
            <a:ext cx="3720465" cy="2508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来源：evidence/stars.csv、report.json（f7 检测与跨帧核验统计）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 / 16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星图识别 · 最暗星定位　FAINTEST CANDIDATE（f7）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最暗候选位于 (973.24, 2164.70)，4/6 帧可复现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99" b="99"/>
          <a:stretch>
            <a:fillRect/>
          </a:stretch>
        </p:blipFill>
        <p:spPr>
          <a:xfrm>
            <a:off x="609600" y="1574800"/>
            <a:ext cx="7620000" cy="3835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09600" y="54864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 1　f7 全景恒星候选（左，青色点）与最暗候选局部像素放大（右，橙圈）</a:t>
            </a:r>
            <a:endParaRPr lang="en-US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483600" y="1574800"/>
            <a:ext cx="3098800" cy="4114800"/>
          </a:xfrm>
          <a:prstGeom prst="roundRect">
            <a:avLst/>
          </a:prstGeom>
          <a:solidFill>
            <a:srgbClr val="4E94D9">
              <a:alpha val="5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686800" y="1752600"/>
            <a:ext cx="2692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最暗候选 · source 6957</a:t>
            </a:r>
            <a:endParaRPr lang="en-US" sz="16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16215">
            <a:off x="8686815" y="21272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686800" y="2286000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x = 973.24 px</a:t>
            </a:r>
            <a:endParaRPr lang="en-US" sz="1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686800" y="2540000"/>
            <a:ext cx="2692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列坐标（0 起算）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86800" y="2794000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y = 2164.70 px</a:t>
            </a:r>
            <a:endParaRPr lang="en-US" sz="1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686800" y="3048000"/>
            <a:ext cx="2692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行坐标（0 起算）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86800" y="3302000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 ≈ 231.2 ADU</a:t>
            </a:r>
            <a:endParaRPr lang="en-US" sz="18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686800" y="3556000"/>
            <a:ext cx="2692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r=5 px 孔径流量（背景扣除）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686800" y="3810000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 / 6 帧命中</a:t>
            </a:r>
            <a:endParaRPr lang="en-US" sz="1800" b="1" i="0" u="none" strike="noStrike">
              <a:solidFill>
                <a:srgbClr val="36C5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686800" y="4064000"/>
            <a:ext cx="2692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f4–f9 跨帧核验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86800" y="4318000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所属帧 f7</a:t>
            </a:r>
            <a:endParaRPr lang="en-US" sz="1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686800" y="4572000"/>
            <a:ext cx="2692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 8 帧（reference-frame=7）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686800" y="5029200"/>
            <a:ext cx="2692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候选集内最暗者，非整幅探测极限；坐标为 f7 原图像素，非天球坐标。</a:t>
            </a:r>
            <a:endParaRPr lang="en-US" sz="1200" b="0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来源：evidence/stars.csv（source_id=6957）、report.json；标注图由本队流程生成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 / 16</a:t>
            </a:r>
            <a:endParaRPr lang="en-US" sz="1100"/>
          </a:p>
        </p:txBody>
      </p:sp>
      <p:cxnSp>
        <p:nvCxnSpPr>
          <p:cNvPr id="26" name="Connector 9"/>
          <p:cNvCxnSpPr/>
          <p:nvPr/>
        </p:nvCxnSpPr>
        <p:spPr>
          <a:xfrm rot="-16215">
            <a:off x="8686815" y="50228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星图识别 · 星等估计　PHOTOMETRIC CALIBRATION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离线 Gaia DR3 定标给出最暗候选 m ≈ 14.53（G 参照）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498600"/>
            <a:ext cx="4826000" cy="1498600"/>
          </a:xfrm>
          <a:prstGeom prst="roundRect">
            <a:avLst/>
          </a:prstGeom>
          <a:solidFill>
            <a:srgbClr val="4E94D9">
              <a:alpha val="6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38200" y="1651000"/>
            <a:ext cx="436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孔径流量 → 星等（Pogson 对数关系）</a:t>
            </a:r>
            <a:endParaRPr lang="en-US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AutoShape 7"/>
              <p:cNvSpPr/>
              <p:nvPr/>
            </p:nvSpPr>
            <p:spPr>
              <a:xfrm>
                <a:off x="711200" y="1930400"/>
                <a:ext cx="4622800" cy="508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𝑚</m:t>
                      </m:r>
                      <m:r>
                        <a:rPr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≈−</m:t>
                      </m:r>
                      <m:r>
                        <a:rPr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2</m:t>
                      </m:r>
                      <m:r>
                        <a:rPr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.</m:t>
                      </m:r>
                      <m:r>
                        <a:rPr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5</m:t>
                      </m:r>
                      <m:sSub>
                        <m:sSubPr>
                          <m:ctrlPr>
                            <a:rPr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log</m:t>
                          </m:r>
                        </m:e>
                        <m:sub>
                          <m:r>
                            <a:rPr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微软雅黑" panose="020B0503020204020204" charset="-122"/>
                                  <a:sym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微软雅黑" panose="020B0503020204020204" charset="-122"/>
                                  <a:sym typeface="微软雅黑" panose="020B0503020204020204" charset="-122"/>
                                </a:rPr>
                                <m:t>𝐹</m:t>
                              </m:r>
                            </m:num>
                            <m:den>
                              <m:r>
                                <a:rPr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微软雅黑" panose="020B0503020204020204" charset="-122"/>
                                  <a:sym typeface="微软雅黑" panose="020B0503020204020204" charset="-122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+</m:t>
                      </m:r>
                      <m:r>
                        <a:rPr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微软雅黑" panose="020B0503020204020204" charset="-122"/>
                        </a:rPr>
                        <m:t>𝑍𝑃</m:t>
                      </m:r>
                    </m:oMath>
                  </m:oMathPara>
                </a14:m>
                <a:endParaRPr lang="en-US" sz="2800" b="1">
                  <a:solidFill>
                    <a:schemeClr val="bg1"/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  <a:sym typeface="微软雅黑" panose="020B0503020204020204" charset="-122"/>
                </a:endParaRPr>
              </a:p>
            </p:txBody>
          </p:sp>
        </mc:Choice>
        <mc:Fallback>
          <p:sp>
            <p:nvSpPr>
              <p:cNvPr id="7" name="AutoShap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1930400"/>
                <a:ext cx="4622800" cy="508000"/>
              </a:xfrm>
              <a:prstGeom prst="rect">
                <a:avLst/>
              </a:prstGeom>
              <a:blipFill rotWithShape="1">
                <a:blip r:embed="rId2"/>
                <a:stretch>
                  <a:fillRect t="-2375" b="-2625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8"/>
          <p:cNvSpPr/>
          <p:nvPr/>
        </p:nvSpPr>
        <p:spPr>
          <a:xfrm>
            <a:off x="838200" y="2540000"/>
            <a:ext cx="4368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F=231.2 ADU，t=1.5 s，ZP=19.9978　⇒　m≈14.528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3124200"/>
            <a:ext cx="4826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 ≈ 14.53</a:t>
            </a:r>
            <a:endParaRPr lang="en-US" sz="48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" y="3962400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最暗候选 6957 · 亮星零点外推，暗端与颜色项待验证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" y="4292600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定标方法（全程离线，检测链不读星表真值）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9600" y="45466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Gaia DR3 三角形匹配盲初始化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" y="48006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 二次切平面板拟合（x,y → ξ,η → α,δ）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" y="50546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③ 一对一互匹配 + 3σ / MAD 稳健剪裁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" y="53086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④ 离线 Gaia 参考星定零点，无需目标真值标签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" y="5689600"/>
            <a:ext cx="4876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 参照，非标准 V；0.086 为零点配对散度。暗源总误差待评估，5σ 分割不等于孔径 S/N=5。</a:t>
            </a:r>
            <a:endParaRPr lang="en-US" sz="1200" b="0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 t="80" b="80"/>
          <a:stretch>
            <a:fillRect/>
          </a:stretch>
        </p:blipFill>
        <p:spPr>
          <a:xfrm>
            <a:off x="5740400" y="1498600"/>
            <a:ext cx="5842000" cy="314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5740400" y="4699000"/>
            <a:ext cx="584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 2　逐对零点分布：蓝点用于定零点，灰点被稳健剪裁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7473">
            <a:off x="5740407" y="49974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5740400" y="5080000"/>
            <a:ext cx="2857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588 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740400" y="5359400"/>
            <a:ext cx="2857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天测位置匹配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724900" y="5080000"/>
            <a:ext cx="2857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0.823″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724900" y="5359400"/>
            <a:ext cx="2857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位置匹配 RMS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740400" y="5613400"/>
            <a:ext cx="2857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8.443″/px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740400" y="5880100"/>
            <a:ext cx="2857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平均像元尺度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724900" y="5613400"/>
            <a:ext cx="2857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ZP 19.9978</a:t>
            </a:r>
            <a:endParaRPr lang="en-US" sz="15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724900" y="5880100"/>
            <a:ext cx="285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460 参考星 · 散度 0.086 mag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来源：src/astrometry/catalog_match.py；Gaia DR3（CDS I/355）；evidence/report.json、offline-receipt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08 / 16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09600" y="474980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44" name="图片 43" descr="7b0a202020202266696c746572223a202230220a7d0a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CDFE0825-6DEF-4EF5-8246-60DE8C826C90}">
                <a14:imgProps xmlns:a14="http://schemas.microsoft.com/office/drawing/2010/main">
                  <a14:imgLayer r:embed="rId4">
                    <a14:imgEffect name="7"/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4825" y="2576195"/>
            <a:ext cx="2109470" cy="267144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星图分析 · 动目标判据链　MOTION PIPELINE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相对恒星背景的持续运动，是候选轨迹的核心证据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701165" y="1735455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密集场配准：≤250 紧致亮源逐帧直配 f0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61845" y="207645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一对一匹配 + 残差剪裁 + RMS 上限，避免密集场全源两两配准。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806700" y="257175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配准后剔除静止源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806700" y="291973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跨帧命中 ≥4 的源判为恒星背景，移出运动搜索。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" y="312420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043555" y="3523615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按真实 UTC 做时序线性关联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43555" y="3939540"/>
            <a:ext cx="2974340" cy="347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两点假设 + 最小二乘拟合位置随时间的线性轨迹 x(t)、y(t)。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806700" y="464185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轨迹判决：多重硬判据同时满足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614295" y="5077460"/>
            <a:ext cx="348234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≥4 帧、连续漏检 ≤2、速度 1–150 px/s、拟合 RMS ≤1.5 px、观测不重用。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061845" y="5563235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输出运动候选轨迹</a:t>
            </a:r>
            <a:endParaRPr lang="en-US" sz="13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849120" y="5944235"/>
            <a:ext cx="3955415" cy="2406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坐标为参考帧像素 (x_sky_px, y_sky_px)；FITS 无 WCS，非赤经赤纬。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36360" y="1473200"/>
            <a:ext cx="5146675" cy="4084955"/>
          </a:xfrm>
          <a:prstGeom prst="roundRect">
            <a:avLst/>
          </a:prstGeom>
          <a:solidFill>
            <a:srgbClr val="4E94D9">
              <a:alpha val="5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rcRect t="10" b="10"/>
          <a:stretch>
            <a:fillRect/>
          </a:stretch>
        </p:blipFill>
        <p:spPr>
          <a:xfrm>
            <a:off x="6872605" y="1744345"/>
            <a:ext cx="4339590" cy="229933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6705600" y="4140200"/>
            <a:ext cx="46736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 3　14 次帧间配准内点 RMS（橙虚线为中位）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341">
            <a:off x="6705609" y="4464050"/>
            <a:ext cx="467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908800" y="4497705"/>
            <a:ext cx="4673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0.0643 px</a:t>
            </a:r>
            <a:endParaRPr lang="en-US" sz="30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872605" y="4987925"/>
            <a:ext cx="46736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帧间配准内点 RMS 中位（最大 0.1076 px）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872605" y="5219700"/>
            <a:ext cx="46736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星场中心整段漂移仅 0.531 px，背景对齐可靠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36360" y="5715000"/>
            <a:ext cx="5146040" cy="514985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  <a:alpha val="60000"/>
            </a:schemeClr>
          </a:solidFill>
          <a:ln w="12700" cap="flat" cmpd="sng">
            <a:solidFill>
              <a:schemeClr val="accent1">
                <a:alpha val="35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611620" y="5715000"/>
            <a:ext cx="4742180" cy="4800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</a:t>
            </a:r>
            <a:r>
              <a:rPr lang="en-US" sz="11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1–150 px/s 是预设速度判决范围，实测为 5.68–38.41 px/s（见下页）；短弧匀速直线是建模近似。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来源：src/register/space.py、src/target/space_motion.py、config/default.yaml；evidence/report.json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09 / 16</a:t>
            </a:r>
            <a:endParaRPr lang="en-US" sz="1100"/>
          </a:p>
        </p:txBody>
      </p:sp>
      <p:sp>
        <p:nvSpPr>
          <p:cNvPr id="46" name="椭圆 45"/>
          <p:cNvSpPr/>
          <p:nvPr/>
        </p:nvSpPr>
        <p:spPr>
          <a:xfrm>
            <a:off x="-2173605" y="1741805"/>
            <a:ext cx="4870450" cy="4291965"/>
          </a:xfrm>
          <a:prstGeom prst="ellips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990600" y="1616710"/>
            <a:ext cx="429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1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185035" y="2576195"/>
            <a:ext cx="429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2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614295" y="3434715"/>
            <a:ext cx="429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3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377440" y="4545330"/>
            <a:ext cx="429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4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419860" y="5475605"/>
            <a:ext cx="429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accent1"/>
                </a:solidFill>
              </a:rPr>
              <a:t>5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星图分析 · 轨迹结果　MOTION RESULTS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全序列得到 26 条运动候选、294 行带时标位置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41" b="41"/>
          <a:stretch>
            <a:fillRect/>
          </a:stretch>
        </p:blipFill>
        <p:spPr>
          <a:xfrm>
            <a:off x="609600" y="1549400"/>
            <a:ext cx="7620000" cy="4279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09600" y="5880100"/>
            <a:ext cx="762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 4　26 条候选轨迹全景（左）与 T1 / T21 / T22 三时刻原图切片（右）</a:t>
            </a:r>
            <a:endParaRPr lang="en-US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483600" y="1549400"/>
            <a:ext cx="3098800" cy="4279900"/>
          </a:xfrm>
          <a:prstGeom prst="roundRect">
            <a:avLst/>
          </a:prstGeom>
          <a:solidFill>
            <a:srgbClr val="4E94D9">
              <a:alpha val="5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686800" y="1701800"/>
            <a:ext cx="2692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运动候选统计</a:t>
            </a:r>
            <a:endParaRPr lang="en-US" sz="1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16215">
            <a:off x="8686815" y="20764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686800" y="2235200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26 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686800" y="2501900"/>
            <a:ext cx="2692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运动候选轨迹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86800" y="2768600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294 行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686800" y="3035300"/>
            <a:ext cx="2692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逐帧带 UTC 位置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86800" y="3302000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4–15 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686800" y="3568700"/>
            <a:ext cx="2692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每条轨迹覆盖帧数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686800" y="3835400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5.68–38.41 px/s</a:t>
            </a:r>
            <a:endParaRPr lang="en-US" sz="15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686800" y="4102100"/>
            <a:ext cx="2692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参考帧像素速度区间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6215">
            <a:off x="8686815" y="44132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686800" y="4521200"/>
            <a:ext cx="26924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T1 ≈ 5.90 px/s · 跨 15 帧</a:t>
            </a:r>
            <a:endParaRPr lang="en-US" sz="1200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86800" y="4737100"/>
            <a:ext cx="26924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T21 ≈ 38.41 px/s · 6 帧（最快）</a:t>
            </a:r>
            <a:endParaRPr lang="en-US" sz="1200" b="0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686800" y="5156200"/>
            <a:ext cx="275082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T# 为本轮候选编号，非卫星目录号；身份未定、非完备普查；坐标为参考帧像素。</a:t>
            </a:r>
            <a:endParaRPr lang="en-US" sz="1000" b="0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来源：evidence/targets.csv、target-summary.csv；标注图由本队流程生成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 / 16</a:t>
            </a:r>
            <a:endParaRPr lang="en-US" sz="1100"/>
          </a:p>
        </p:txBody>
      </p:sp>
      <p:cxnSp>
        <p:nvCxnSpPr>
          <p:cNvPr id="26" name="Connector 18"/>
          <p:cNvCxnSpPr/>
          <p:nvPr/>
        </p:nvCxnSpPr>
        <p:spPr>
          <a:xfrm rot="-16215">
            <a:off x="8686815" y="5137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星图分析 · 物理核验　TRAIL CONSISTENCY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曝光拖尾一致性核验剔除 2 条不相容假设，28 → 26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4986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模型假设：匀速、恒亮拖影与近圆对称 PSF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" y="1828800"/>
            <a:ext cx="4826000" cy="711200"/>
          </a:xfrm>
          <a:prstGeom prst="roundRect">
            <a:avLst/>
          </a:prstGeom>
          <a:solidFill>
            <a:srgbClr val="4E94D9">
              <a:alpha val="6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AutoShape 7"/>
              <p:cNvSpPr/>
              <p:nvPr/>
            </p:nvSpPr>
            <p:spPr>
              <a:xfrm>
                <a:off x="711200" y="1905000"/>
                <a:ext cx="4622800" cy="355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b="1" i="1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2000" b="1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000" b="1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pred</m:t>
                          </m:r>
                        </m:sub>
                      </m:sSub>
                      <m:r>
                        <a:rPr sz="2000" b="1">
                          <a:solidFill>
                            <a:srgbClr val="F1F6FC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≈|</m:t>
                      </m:r>
                      <m:r>
                        <a:rPr sz="2000" b="1">
                          <a:solidFill>
                            <a:srgbClr val="F1F6FC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𝑣</m:t>
                      </m:r>
                      <m:r>
                        <a:rPr sz="2000" b="1">
                          <a:solidFill>
                            <a:srgbClr val="F1F6FC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| </m:t>
                      </m:r>
                      <m:sSub>
                        <m:sSubPr>
                          <m:ctrlPr>
                            <a:rPr sz="2000" b="1" i="1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2000" b="1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000" b="1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exp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" name="AutoShap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1905000"/>
                <a:ext cx="4622800" cy="355600"/>
              </a:xfrm>
              <a:prstGeom prst="rect">
                <a:avLst/>
              </a:prstGeom>
              <a:blipFill rotWithShape="1">
                <a:blip r:embed="rId2"/>
                <a:stretch>
                  <a:fillRect t="-2679" b="-2857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8"/>
          <p:cNvSpPr/>
          <p:nvPr/>
        </p:nvSpPr>
        <p:spPr>
          <a:xfrm>
            <a:off x="838200" y="2260600"/>
            <a:ext cx="436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预测拖尾长度 = 原图局部像素速度 × 曝光时间（1.5 s）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2692400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二阶矩估计：λ₁、λ₀ 为长、短轴方差（px²）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AutoShape 10"/>
              <p:cNvSpPr/>
              <p:nvPr/>
            </p:nvSpPr>
            <p:spPr>
              <a:xfrm>
                <a:off x="609600" y="2946400"/>
                <a:ext cx="4826000" cy="355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300" i="1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300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300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obs</m:t>
                          </m:r>
                        </m:sub>
                      </m:sSub>
                      <m:r>
                        <a:rPr sz="1300">
                          <a:solidFill>
                            <a:srgbClr val="F1F6FC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1300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12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1300" i="1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a:rPr sz="1300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sz="1300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sz="1300">
                                  <a:solidFill>
                                    <a:srgbClr val="F1F6FC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微软雅黑" panose="020B0503020204020204" charset="-122"/>
                                  <a:sym typeface="微软雅黑" panose="020B0503020204020204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1300" i="1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a:rPr sz="1300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sz="1300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10" name="AutoShap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946400"/>
                <a:ext cx="4826000" cy="3556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11"/>
          <p:cNvSpPr/>
          <p:nvPr/>
        </p:nvSpPr>
        <p:spPr>
          <a:xfrm>
            <a:off x="609600" y="3403600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相容判据（满足才保留）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9600" y="36576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长度比 实测/预测 ∈ 0.35–2.5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" y="39116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拖尾轴向与速度夹角的 |cos Δθ| ≥ 0.8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" y="41656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该轨迹 ≥50% 的观测相容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" y="44196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帧内位移 &lt;6 px 时不要求可分辨拖尾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" y="4775200"/>
            <a:ext cx="4826000" cy="711200"/>
          </a:xfrm>
          <a:prstGeom prst="roundRect">
            <a:avLst/>
          </a:prstGeom>
          <a:solidFill>
            <a:schemeClr val="bg2">
              <a:lumMod val="40000"/>
              <a:lumOff val="60000"/>
              <a:alpha val="60000"/>
            </a:schemeClr>
          </a:solidFill>
          <a:ln w="12700" cap="flat" cmpd="sng">
            <a:solidFill>
              <a:schemeClr val="accent1">
                <a:alpha val="5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2800" y="4876800"/>
            <a:ext cx="4419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1" i="0" u="none" strike="noStrike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被拒例（f1）</a:t>
            </a:r>
            <a:r>
              <a:rPr lang="en-US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预测拖尾 ≈205.8 px，实测 ≈1.38 px，方向也不符 → 判为不相容。</a:t>
            </a:r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609600" y="5715000"/>
            <a:ext cx="4876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属剔除不相容轨迹假设，非真值证实消除假阳性；为约束前后对照，非完整消融。</a:t>
            </a:r>
            <a:endParaRPr lang="en-US" sz="12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rcRect l="77" r="77"/>
          <a:stretch>
            <a:fillRect/>
          </a:stretch>
        </p:blipFill>
        <p:spPr>
          <a:xfrm>
            <a:off x="5740400" y="1498600"/>
            <a:ext cx="5842000" cy="327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5740400" y="4826000"/>
            <a:ext cx="584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 5　预测长度 vs 二阶矩实测长度（蓝保留 / 橙拒绝，灰线为 1:1）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969000" y="51816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28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740400" y="5588000"/>
            <a:ext cx="134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时序拟合假设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0446">
            <a:off x="7188284" y="53657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6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4" name="AutoShape 24"/>
          <p:cNvSpPr/>
          <p:nvPr/>
        </p:nvSpPr>
        <p:spPr>
          <a:xfrm>
            <a:off x="8305800" y="518795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−2</a:t>
            </a:r>
            <a:endParaRPr lang="en-US" sz="26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164830" y="5613400"/>
            <a:ext cx="1295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拖尾不符被拒</a:t>
            </a:r>
            <a:endParaRPr lang="en-US" sz="900" b="0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6" name="Connector 26"/>
          <p:cNvCxnSpPr/>
          <p:nvPr/>
        </p:nvCxnSpPr>
        <p:spPr>
          <a:xfrm rot="-90446">
            <a:off x="9779084" y="53911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6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7" name="AutoShape 27"/>
          <p:cNvSpPr/>
          <p:nvPr/>
        </p:nvSpPr>
        <p:spPr>
          <a:xfrm>
            <a:off x="10642600" y="51816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26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439400" y="5568950"/>
            <a:ext cx="1295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最终保留轨迹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来源：src/target/trail_check.py、config/default.yaml；evidence/target-summary.csv、report.json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11 / 16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创新赛项 · 平台与观测条件　IN-ORBIT ANALYTICS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从辅助数据与配准残差中提取三类在轨分析数据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473200"/>
            <a:ext cx="4316730" cy="13208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"/>
            </a:scheme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12800" y="1574800"/>
            <a:ext cx="6553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</a:t>
            </a: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拍摄平台遥测（WGS84 / J2000）</a:t>
            </a:r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12800" y="1854200"/>
            <a:ext cx="6553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高度 504.654–504.827 km；J2000 速度 7.61048–7.61055 km/s</a:t>
            </a:r>
            <a:endParaRPr lang="en-US" sz="10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" y="2108200"/>
            <a:ext cx="6553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方法：解析首行 208 字节遥测头（26 个 double）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2311400"/>
            <a:ext cx="6553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用途：随图遥测核对平台状态与时间基准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" y="2514600"/>
            <a:ext cx="6553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边界：属拍摄卫星（开运一号），非被摄目标，不推目标距离 / 身份</a:t>
            </a:r>
            <a:endParaRPr lang="en-US" sz="900" b="0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" y="2844800"/>
            <a:ext cx="4316730" cy="1320800"/>
          </a:xfrm>
          <a:prstGeom prst="roundRect">
            <a:avLst/>
          </a:prstGeom>
          <a:solidFill>
            <a:schemeClr val="bg2">
              <a:lumMod val="40000"/>
              <a:lumOff val="60000"/>
              <a:alpha val="25000"/>
            </a:scheme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2800" y="2946400"/>
            <a:ext cx="6553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 </a:t>
            </a: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星场配准稳定性（残差派生）</a:t>
            </a:r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12800" y="3225800"/>
            <a:ext cx="6553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星场中心整段漂移 0.531 px；帧间 RMS 中位 0.0643 px</a:t>
            </a:r>
            <a:endParaRPr lang="en-US" sz="10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" y="3479800"/>
            <a:ext cx="6553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方法：逐帧仿射配准内点残差 + 星场中心漂移统计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" y="3683000"/>
            <a:ext cx="6553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用途：评估星场对齐质量与关联容差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" y="3886200"/>
            <a:ext cx="6553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边界：仅反映星场像素漂移，不等同姿态精度</a:t>
            </a:r>
            <a:endParaRPr lang="en-US" sz="900" b="0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09600" y="4216400"/>
            <a:ext cx="4316730" cy="1320800"/>
          </a:xfrm>
          <a:prstGeom prst="roundRect">
            <a:avLst/>
          </a:prstGeom>
          <a:solidFill>
            <a:schemeClr val="bg2">
              <a:lumMod val="60000"/>
              <a:lumOff val="40000"/>
              <a:alpha val="45000"/>
            </a:scheme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" y="4318000"/>
            <a:ext cx="6553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③ </a:t>
            </a: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成像质量（逐帧自检）</a:t>
            </a:r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812800" y="4597400"/>
            <a:ext cx="6553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背景 20.0–20.2 ADU；噪声 RMS 7.67–7.70；屏蔽区 0.55%–0.57%</a:t>
            </a:r>
            <a:endParaRPr lang="en-US" sz="10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12800" y="4851400"/>
            <a:ext cx="6553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方法：去异常邻域统计 + 饱和 / 负值及 8 px 邻域屏蔽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" y="5054600"/>
            <a:ext cx="6553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用途：曝光 / 增益在轨自检与帧间一致性监控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2800" y="5257800"/>
            <a:ext cx="6553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边界：ADU 非天光面亮度；屏蔽区含首行遥测，非坏像元率</a:t>
            </a:r>
            <a:endParaRPr lang="en-US" sz="900" b="0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"/>
          <a:srcRect t="133" b="133"/>
          <a:stretch>
            <a:fillRect/>
          </a:stretch>
        </p:blipFill>
        <p:spPr>
          <a:xfrm>
            <a:off x="5726430" y="1460500"/>
            <a:ext cx="5490845" cy="3733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5726430" y="525145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 6　逐帧背景中位 ADU、噪声 RMS 与屏蔽区比例（三联子图）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725795" y="5536774"/>
            <a:ext cx="590979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dirty="0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15 </a:t>
            </a:r>
            <a:r>
              <a:rPr lang="en-US" b="0" i="0" u="none" strike="noStrike" dirty="0" err="1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帧背景、噪声与屏蔽比例波动较窄，检测阈值口径一致，结果可比</a:t>
            </a:r>
            <a:r>
              <a:rPr lang="en-US" b="0" i="0" u="none" strike="noStrike" dirty="0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b="0" i="0" u="none" strike="noStrike" dirty="0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09600" y="5740400"/>
            <a:ext cx="10972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三类数据来自随图遥测与流程统计，未使用目标身份或轨道真值。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来源：evidence/frame-quality.csv、report.json、src/dataio/space_metadata.py；数值见官方数据格式附录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12 / 16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创新赛项 · 定标与运动特征　ASTROMETRY &amp; KINEMATICS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天测定标与运动特征，支撑编目关联与初分选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473200"/>
            <a:ext cx="6146800" cy="1905000"/>
          </a:xfrm>
          <a:prstGeom prst="roundRect">
            <a:avLst/>
          </a:prstGeom>
          <a:solidFill>
            <a:srgbClr val="4E94D9">
              <a:alpha val="10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12800" y="1625600"/>
            <a:ext cx="574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④ </a:t>
            </a:r>
            <a:r>
              <a:rPr lang="en-US" sz="16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离线天测定标：像素 ↔ 天球</a:t>
            </a:r>
            <a:endParaRPr lang="en-US" sz="1600"/>
          </a:p>
        </p:txBody>
      </p:sp>
      <p:sp>
        <p:nvSpPr>
          <p:cNvPr id="7" name="AutoShape 7"/>
          <p:cNvSpPr/>
          <p:nvPr/>
        </p:nvSpPr>
        <p:spPr>
          <a:xfrm>
            <a:off x="812800" y="1981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8.443″/px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2311400"/>
            <a:ext cx="1905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平均像元尺度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844800" y="1981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0.823″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844800" y="2311400"/>
            <a:ext cx="1524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位置匹配 RMS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21200" y="19812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ZP 19.9978</a:t>
            </a:r>
            <a:endParaRPr lang="en-US" sz="18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521200" y="2311400"/>
            <a:ext cx="203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测光零点 · 460 星 · 散度 0.086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" y="2641600"/>
            <a:ext cx="574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用途：像素 → 天球坐标换算，为编目关联提供前置几何与光度基准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" y="2921000"/>
            <a:ext cx="574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边界：依赖离线 Gaia DR3 板解，FITS 无原生 WCS；星等为 G 参照，非标准 V。</a:t>
            </a:r>
            <a:endParaRPr lang="en-US" sz="900" b="0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09600" y="3505200"/>
            <a:ext cx="6146800" cy="1905000"/>
          </a:xfrm>
          <a:prstGeom prst="roundRect">
            <a:avLst/>
          </a:prstGeom>
          <a:solidFill>
            <a:srgbClr val="4E94D9">
              <a:alpha val="10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" y="3657600"/>
            <a:ext cx="574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⑤ </a:t>
            </a:r>
            <a:r>
              <a:rPr lang="en-US" sz="16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运动特征：像素速度 → 角速度</a:t>
            </a:r>
            <a:endParaRPr 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AutoShape 17"/>
              <p:cNvSpPr/>
              <p:nvPr/>
            </p:nvSpPr>
            <p:spPr>
              <a:xfrm>
                <a:off x="812800" y="3987800"/>
                <a:ext cx="5740400" cy="304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400">
                          <a:solidFill>
                            <a:srgbClr val="F1F6FC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𝜔</m:t>
                      </m:r>
                      <m:r>
                        <a:rPr sz="1400">
                          <a:solidFill>
                            <a:srgbClr val="F1F6FC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≈</m:t>
                      </m:r>
                      <m:sSub>
                        <m:sSubPr>
                          <m:ctrlPr>
                            <a:rPr sz="1400" i="1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400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F1F6FC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  <a:sym typeface="微软雅黑" panose="020B0503020204020204" charset="-122"/>
                            </a:rPr>
                            <m:t>px</m:t>
                          </m:r>
                        </m:sub>
                      </m:sSub>
                      <m:r>
                        <a:rPr sz="1400">
                          <a:solidFill>
                            <a:srgbClr val="F1F6FC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m:t> 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sz="1400" i="1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</m:ctrlPr>
                                </m:sSupPr>
                                <m:e>
                                  <m:r>
                                    <a:rPr sz="1400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  <m:t>8</m:t>
                                  </m:r>
                                  <m:r>
                                    <a:rPr sz="1400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  <m:t>.</m:t>
                                  </m:r>
                                  <m:r>
                                    <a:rPr sz="1400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  <m:t>443</m:t>
                                  </m:r>
                                </m:e>
                                <m:sup>
                                  <m:r>
                                    <a:rPr sz="1400">
                                      <a:solidFill>
                                        <a:srgbClr val="F1F6FC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微软雅黑" panose="020B0503020204020204" charset="-122"/>
                                      <a:sym typeface="微软雅黑" panose="020B0503020204020204" charset="-122"/>
                                    </a:rPr>
                                    <m:t>′′</m:t>
                                  </m:r>
                                </m:sup>
                              </m:sSup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F1F6FC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微软雅黑" panose="020B0503020204020204" charset="-122"/>
                                  <a:sym typeface="微软雅黑" panose="020B0503020204020204" charset="-122"/>
                                </a:rPr>
                                <m:t>px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17" name="AutoShap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3987800"/>
                <a:ext cx="5740400" cy="3048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utoShape 18"/>
          <p:cNvSpPr/>
          <p:nvPr/>
        </p:nvSpPr>
        <p:spPr>
          <a:xfrm>
            <a:off x="812800" y="43688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47.94–324.33″/s</a:t>
            </a:r>
            <a:endParaRPr lang="en-US" sz="20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191000" y="4445000"/>
            <a:ext cx="2362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26 条候选参考帧角速度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" y="4826000"/>
            <a:ext cx="574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用途：短弧运动候选初分选、跨帧关联与异常速度标记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" y="5105400"/>
            <a:ext cx="5740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边界：投影近似、短弧线性；非轨道根数，不判定目标身份。</a:t>
            </a:r>
            <a:endParaRPr lang="en-US" sz="900" b="0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10400" y="1549400"/>
            <a:ext cx="4572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7010400" y="4267200"/>
            <a:ext cx="457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 7　26 条候选像素速度（左）与每条观测帧数（右）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010400" y="4546600"/>
            <a:ext cx="4572000" cy="863600"/>
          </a:xfrm>
          <a:prstGeom prst="roundRect">
            <a:avLst/>
          </a:prstGeom>
          <a:solidFill>
            <a:srgbClr val="36C5B4">
              <a:alpha val="7000"/>
            </a:srgbClr>
          </a:solidFill>
          <a:ln w="12700" cap="flat" cmpd="sng">
            <a:solidFill>
              <a:srgbClr val="36C5B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213600" y="4673600"/>
            <a:ext cx="4165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b="0" i="0" u="none" strike="noStrike" dirty="0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T21 </a:t>
            </a:r>
            <a:r>
              <a:rPr lang="en-US" b="0" i="0" u="none" strike="noStrike" dirty="0" err="1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最快</a:t>
            </a:r>
            <a:r>
              <a:rPr lang="en-US" b="0" i="0" u="none" strike="noStrike" dirty="0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324.33″/s（6 帧）；约 20 条</a:t>
            </a:r>
            <a:r>
              <a:rPr lang="zh-CN" altLang="en-US" b="0" i="0" u="none" strike="noStrike" dirty="0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聚</a:t>
            </a:r>
            <a:r>
              <a:rPr lang="en-US" b="0" i="0" u="none" strike="noStrike" dirty="0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 48–54″/</a:t>
            </a:r>
            <a:r>
              <a:rPr lang="en-US" b="0" i="0" u="none" strike="noStrike" dirty="0" err="1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s，不据此判定目标类型</a:t>
            </a:r>
            <a:r>
              <a:rPr lang="en-US" b="0" i="0" u="none" strike="noStrike" dirty="0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b="0" i="0" u="none" strike="noStrike" dirty="0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09600" y="5613400"/>
            <a:ext cx="10972800" cy="482600"/>
          </a:xfrm>
          <a:prstGeom prst="roundRect">
            <a:avLst>
              <a:gd name="adj" fmla="val 0"/>
            </a:avLst>
          </a:prstGeom>
          <a:solidFill>
            <a:schemeClr val="bg2">
              <a:lumMod val="20000"/>
              <a:lumOff val="80000"/>
              <a:alpha val="60000"/>
            </a:schemeClr>
          </a:solidFill>
          <a:ln w="12700" cap="flat" cmpd="sng">
            <a:solidFill>
              <a:schemeClr val="accent1">
                <a:alpha val="35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38200" y="5715000"/>
            <a:ext cx="10515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</a:t>
            </a:r>
            <a:r>
              <a:rPr lang="en-US" sz="11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板解与角速度均为参考帧投影下的短弧近似；不输出轨道根数，不判定身份与完备性。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来源：src/astrometry/catalog_match.py、src/target/space_motion.py；evidence/target-summary.csv、offline-receipt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13 / 16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实用性　UTILITY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每项分析数据都对应明确的现实场景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09600" y="1524000"/>
          <a:ext cx="10972800" cy="33121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318000"/>
                <a:gridCol w="6654800"/>
              </a:tblGrid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1F6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分析数据（本系统输出）</a:t>
                      </a:r>
                      <a:endParaRPr lang="en-US" sz="14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94D9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1F6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可支持的后续用途</a:t>
                      </a:r>
                      <a:endParaRPr lang="en-US" sz="14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94D9">
                        <a:alpha val="2200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1F6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平台遥测：高度 / 速度 / 时间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94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B4C6D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随图遥测核对平台状态与时间基准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94D9">
                        <a:alpha val="500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1F6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星场漂移 0.531 px、配准 RMS 0.0643 px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B4C6D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评估星场对齐质量与关联容差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1F6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天测定标：8.443″/px、RMS 0.823″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94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B4C6D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像素—天球坐标换算，编目关联的前置几何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94D9">
                        <a:alpha val="500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1F6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测光零点 ZP 19.9978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B4C6D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离线 Gaia 参考星定标，运行时无需联网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1F6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角速度 47.94–324.33″/s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94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B4C6D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短弧运动候选初分选、异常速度标记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94D9">
                        <a:alpha val="500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1F6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26 条轨迹 + 294 行逐帧位置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B4C6D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为后续编目关联和轨道确定提供输入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609600" y="5054600"/>
            <a:ext cx="10972800" cy="914400"/>
          </a:xfrm>
          <a:prstGeom prst="roundRect">
            <a:avLst>
              <a:gd name="adj" fmla="val 0"/>
            </a:avLst>
          </a:prstGeom>
          <a:solidFill>
            <a:schemeClr val="bg2">
              <a:lumMod val="20000"/>
              <a:lumOff val="80000"/>
              <a:alpha val="60000"/>
            </a:schemeClr>
          </a:solidFill>
          <a:ln w="12700" cap="flat" cmpd="sng">
            <a:solidFill>
              <a:schemeClr val="accent1">
                <a:alpha val="28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38200" y="5181600"/>
            <a:ext cx="1051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定位　</a:t>
            </a: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面向天基观测预处理，输出带时标像素轨迹与定标结果，为后续编目和定轨提供输入。</a:t>
            </a:r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38200" y="5588000"/>
            <a:ext cx="1051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</a:t>
            </a:r>
            <a:r>
              <a:rPr lang="en-US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当前不输出轨道根数与目标身份；候选完备性需注入回收实验评估（见结论页）。</a:t>
            </a:r>
            <a:endParaRPr lang="en-US"/>
          </a:p>
        </p:txBody>
      </p:sp>
      <p:cxnSp>
        <p:nvCxnSpPr>
          <p:cNvPr id="9" name="Connector 9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来源：本系统 outputs（stars / targets / frame-quality / report）与官方赛题任务要求对照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14 / 16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可信与复现　REPRODUCIBILITY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输入、参数与结果全程可追溯，已通过禁网离线复验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473200"/>
            <a:ext cx="3505200" cy="1397000"/>
          </a:xfrm>
          <a:prstGeom prst="roundRect">
            <a:avLst/>
          </a:prstGeom>
          <a:solidFill>
            <a:schemeClr val="bg1">
              <a:alpha val="20000"/>
            </a:scheme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12800" y="1625600"/>
            <a:ext cx="3098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</a:t>
            </a:r>
            <a:r>
              <a:rPr lang="en-US" sz="16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输入可追溯</a:t>
            </a:r>
            <a:endParaRPr lang="en-US" sz="1600"/>
          </a:p>
        </p:txBody>
      </p:sp>
      <p:cxnSp>
        <p:nvCxnSpPr>
          <p:cNvPr id="7" name="Connector 7"/>
          <p:cNvCxnSpPr/>
          <p:nvPr/>
        </p:nvCxnSpPr>
        <p:spPr>
          <a:xfrm rot="-14089">
            <a:off x="812813" y="1949450"/>
            <a:ext cx="309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12800" y="2082800"/>
            <a:ext cx="309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C6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15 个 FITS 逐一记录 SHA-256</a:t>
            </a:r>
            <a:endParaRPr lang="en-US" sz="1200" b="0" i="0" u="none" strike="noStrike">
              <a:solidFill>
                <a:srgbClr val="B4C6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2800" y="2362200"/>
            <a:ext cx="309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C6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Gaia CSV 哈希留痕（CDS I/355）</a:t>
            </a:r>
            <a:endParaRPr lang="en-US" sz="1200" b="0" i="0" u="none" strike="noStrike">
              <a:solidFill>
                <a:srgbClr val="B4C6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43400" y="1473200"/>
            <a:ext cx="3505200" cy="1397000"/>
          </a:xfrm>
          <a:prstGeom prst="roundRect">
            <a:avLst/>
          </a:prstGeom>
          <a:solidFill>
            <a:schemeClr val="bg1">
              <a:alpha val="20000"/>
            </a:scheme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46600" y="1625600"/>
            <a:ext cx="3098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 </a:t>
            </a:r>
            <a:r>
              <a:rPr lang="en-US" sz="16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参数与过程可追溯</a:t>
            </a:r>
            <a:endParaRPr lang="en-US" sz="1600"/>
          </a:p>
        </p:txBody>
      </p:sp>
      <p:cxnSp>
        <p:nvCxnSpPr>
          <p:cNvPr id="12" name="Connector 12"/>
          <p:cNvCxnSpPr/>
          <p:nvPr/>
        </p:nvCxnSpPr>
        <p:spPr>
          <a:xfrm rot="-14089">
            <a:off x="4546613" y="1949450"/>
            <a:ext cx="309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46600" y="2082800"/>
            <a:ext cx="309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C6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阈值集中于 config/default.yaml</a:t>
            </a:r>
            <a:endParaRPr lang="en-US" sz="1200" b="0" i="0" u="none" strike="noStrike">
              <a:solidFill>
                <a:srgbClr val="B4C6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46600" y="2362200"/>
            <a:ext cx="309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C6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参考帧、时间窗、判据全部记录</a:t>
            </a:r>
            <a:endParaRPr lang="en-US" sz="1200" b="0" i="0" u="none" strike="noStrike">
              <a:solidFill>
                <a:srgbClr val="B4C6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77200" y="1473200"/>
            <a:ext cx="3505200" cy="139700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80400" y="1625600"/>
            <a:ext cx="3098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③</a:t>
            </a:r>
            <a:r>
              <a:rPr lang="en-US" sz="1600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6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结果可复验</a:t>
            </a:r>
            <a:endParaRPr lang="en-US" sz="1600"/>
          </a:p>
        </p:txBody>
      </p:sp>
      <p:sp>
        <p:nvSpPr>
          <p:cNvPr id="18" name="AutoShape 18"/>
          <p:cNvSpPr/>
          <p:nvPr/>
        </p:nvSpPr>
        <p:spPr>
          <a:xfrm>
            <a:off x="8280400" y="2082800"/>
            <a:ext cx="309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C6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report.json 记录全部输出数值</a:t>
            </a:r>
            <a:endParaRPr lang="en-US" sz="1200" b="0" i="0" u="none" strike="noStrike">
              <a:solidFill>
                <a:srgbClr val="B4C6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280400" y="2362200"/>
            <a:ext cx="309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C6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CSV 字节一致，JSON 除耗时一致</a:t>
            </a:r>
            <a:endParaRPr lang="en-US" sz="1200" b="0" i="0" u="none" strike="noStrike">
              <a:solidFill>
                <a:srgbClr val="B4C6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09600" y="30480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一条命令复现（禁网环境，CPU 镜像内）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" y="3302000"/>
            <a:ext cx="10972800" cy="508000"/>
          </a:xfrm>
          <a:prstGeom prst="roundRect">
            <a:avLst>
              <a:gd name="adj" fmla="val 0"/>
            </a:avLst>
          </a:prstGeom>
          <a:solidFill>
            <a:srgbClr val="060C16">
              <a:alpha val="85000"/>
            </a:srgbClr>
          </a:solidFill>
          <a:ln w="12700" cap="flat" cmpd="sng">
            <a:solidFill>
              <a:schemeClr val="accent1">
                <a:alpha val="48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87400" y="3403600"/>
            <a:ext cx="10617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python -m src.cli --input data/rst19 --reference-frame 7 --catalog docs/reference/rst19-gaia-dr3.csv --output output/rst19-final</a:t>
            </a:r>
            <a:endParaRPr lang="en-US" sz="1100" b="0" i="0" u="none" strike="noStrike">
              <a:solidFill>
                <a:schemeClr val="accent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09600" y="4013200"/>
            <a:ext cx="2108200" cy="787400"/>
          </a:xfrm>
          <a:prstGeom prst="roundRect">
            <a:avLst/>
          </a:prstGeom>
          <a:solidFill>
            <a:srgbClr val="4E94D9">
              <a:alpha val="6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11200" y="4140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152 与 16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" y="44704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两组测试分别通过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819400" y="4013200"/>
            <a:ext cx="2108200" cy="787400"/>
          </a:xfrm>
          <a:prstGeom prst="roundRect">
            <a:avLst/>
          </a:prstGeom>
          <a:solidFill>
            <a:srgbClr val="4E94D9">
              <a:alpha val="6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2921000" y="4140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字节一致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921000" y="44704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两份 CSV 离线复验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29200" y="4013200"/>
            <a:ext cx="2108200" cy="787400"/>
          </a:xfrm>
          <a:prstGeom prst="roundRect">
            <a:avLst/>
          </a:prstGeom>
          <a:solidFill>
            <a:srgbClr val="4E94D9">
              <a:alpha val="6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5130800" y="4140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≈79.1 s</a:t>
            </a:r>
            <a:endParaRPr lang="en-US" sz="17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5130800" y="44704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本机分析（离线 82.9 s）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239000" y="4013200"/>
            <a:ext cx="2108200" cy="787400"/>
          </a:xfrm>
          <a:prstGeom prst="roundRect">
            <a:avLst/>
          </a:prstGeom>
          <a:solidFill>
            <a:srgbClr val="4E94D9">
              <a:alpha val="6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340600" y="4140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纯 CPU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340600" y="44704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 GPU · 无深度学习 · 禁网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448800" y="4013200"/>
            <a:ext cx="2108200" cy="787400"/>
          </a:xfrm>
          <a:prstGeom prst="roundRect">
            <a:avLst/>
          </a:prstGeom>
          <a:solidFill>
            <a:srgbClr val="4E94D9">
              <a:alpha val="6000"/>
            </a:srgbClr>
          </a:solidFill>
          <a:ln w="12700" cap="flat" cmpd="sng">
            <a:solidFill>
              <a:srgbClr val="9DB1C9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550400" y="4140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1.01 GB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550400" y="44704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9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CPU 镜像，源码另附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09600" y="5054600"/>
            <a:ext cx="10972800" cy="533400"/>
          </a:xfrm>
          <a:prstGeom prst="roundRect">
            <a:avLst>
              <a:gd name="adj" fmla="val 0"/>
            </a:avLst>
          </a:prstGeom>
          <a:solidFill>
            <a:schemeClr val="bg2">
              <a:lumMod val="20000"/>
              <a:lumOff val="80000"/>
              <a:alpha val="60000"/>
            </a:schemeClr>
          </a:solidFill>
          <a:ln w="12700" cap="flat" cmpd="sng">
            <a:solidFill>
              <a:schemeClr val="accent1">
                <a:alpha val="35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38200" y="5181600"/>
            <a:ext cx="1051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</a:t>
            </a:r>
            <a:r>
              <a:rPr lang="en-US" sz="11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同机、同镜像可复现；未证明在所有裁判硬件上等价；离线需预先导入镜像与 Gaia 星表。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09600" y="5740400"/>
            <a:ext cx="10972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测试口径：相关回归 152 项通过；专项 16 项通过，两组存在重叠；历史全量 569 项为 563 过 / 6 跳过。</a:t>
            </a:r>
            <a:endParaRPr lang="en-US" sz="1200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1" name="Connector 41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来源：evidence/offline-receipt、report.json；基线 commit e01c979（GitHub 可查）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15 / 16</a:t>
            </a:r>
            <a:endParaRPr lang="en-US" sz="1100"/>
          </a:p>
        </p:txBody>
      </p:sp>
      <p:cxnSp>
        <p:nvCxnSpPr>
          <p:cNvPr id="44" name="Connector 12"/>
          <p:cNvCxnSpPr/>
          <p:nvPr/>
        </p:nvCxnSpPr>
        <p:spPr>
          <a:xfrm rot="-14089">
            <a:off x="8229613" y="1974850"/>
            <a:ext cx="309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82A">
                <a:alpha val="100000"/>
              </a:srgbClr>
            </a:gs>
            <a:gs pos="100000">
              <a:srgbClr val="080F1C">
                <a:alpha val="100000"/>
              </a:srgbClr>
            </a:gs>
          </a:gsLst>
          <a:lin ang="4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 descr="7b0a202020202266696c746572223a202230220a7d0a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边界与结论　SCOPE &amp; CONCLUSION</a:t>
            </a:r>
            <a:endParaRPr lang="en-US" b="0" i="0" u="none" strike="noStrike">
              <a:solidFill>
                <a:srgbClr val="6478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660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在明确边界内完成三项任务，结果可追溯、可复现</a:t>
            </a:r>
            <a:endParaRPr lang="en-US" sz="2800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23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473200"/>
            <a:ext cx="5181600" cy="3657600"/>
          </a:xfrm>
          <a:prstGeom prst="roundRect">
            <a:avLst/>
          </a:prstGeom>
          <a:solidFill>
            <a:srgbClr val="36C5B4">
              <a:alpha val="6000"/>
            </a:srgbClr>
          </a:solidFill>
          <a:ln w="12700" cap="flat" cmpd="sng">
            <a:solidFill>
              <a:srgbClr val="36C5B4">
                <a:alpha val="3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64565" y="1638300"/>
            <a:ext cx="472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36C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已证实 · 三项任务与工程闭环</a:t>
            </a:r>
            <a:endParaRPr lang="en-US" b="1" i="0" u="none" strike="noStrike">
              <a:solidFill>
                <a:srgbClr val="36C5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9241">
            <a:off x="838209" y="20002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C5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38200" y="2159000"/>
            <a:ext cx="4724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星点识别</a:t>
            </a:r>
            <a:endParaRPr lang="en-US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38200" y="2413000"/>
            <a:ext cx="4724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4C6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五级判据 + 跨帧核验，f7 得 12,842 个恒星候选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" y="2743200"/>
            <a:ext cx="4724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 星等估计</a:t>
            </a:r>
            <a:endParaRPr lang="en-US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38200" y="2997200"/>
            <a:ext cx="4724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4C6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离线 Gaia DR3 定标，最暗候选 m≈14.53（G 参照）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8200" y="3327400"/>
            <a:ext cx="4724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③ 星图分析</a:t>
            </a:r>
            <a:endParaRPr lang="en-US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38200" y="3581400"/>
            <a:ext cx="4724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4C6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26 条运动候选、294 行位置；拖尾核验 28 → 26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" y="3911600"/>
            <a:ext cx="4724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④ 工程闭环</a:t>
            </a:r>
            <a:endParaRPr lang="en-US" b="1" i="0" u="none" strike="noStrike">
              <a:solidFill>
                <a:srgbClr val="F1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" y="4165600"/>
            <a:ext cx="4724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4C6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纯 CPU、禁网、一条命令复现；152 项回归、16 项专项通过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41">
            <a:off x="838209" y="45656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66800" y="4699000"/>
            <a:ext cx="472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所有数值均可在 report.json 与输出 CSV 中逐项复核。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70600" y="1473200"/>
            <a:ext cx="5511800" cy="3657600"/>
          </a:xfrm>
          <a:prstGeom prst="roundRect">
            <a:avLst/>
          </a:prstGeom>
          <a:solidFill>
            <a:schemeClr val="accent1">
              <a:alpha val="6000"/>
            </a:schemeClr>
          </a:solidFill>
          <a:ln w="12700" cap="flat" cmpd="sng">
            <a:solidFill>
              <a:schemeClr val="accent1">
                <a:alpha val="42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54775" y="1625600"/>
            <a:ext cx="5054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尚未确定 · 七条边界红线</a:t>
            </a:r>
            <a:endParaRPr lang="en-US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8637">
            <a:off x="6299208" y="2000250"/>
            <a:ext cx="5054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accent1">
                <a:alpha val="32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299200" y="2133600"/>
            <a:ext cx="5054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en-US" sz="12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2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12,842 是跨帧恒星候选，非恒星真值总数</a:t>
            </a:r>
            <a:endParaRPr lang="en-US" sz="1200"/>
          </a:p>
        </p:txBody>
      </p:sp>
      <p:sp>
        <p:nvSpPr>
          <p:cNvPr id="22" name="AutoShape 22"/>
          <p:cNvSpPr/>
          <p:nvPr/>
        </p:nvSpPr>
        <p:spPr>
          <a:xfrm>
            <a:off x="6299200" y="2463800"/>
            <a:ext cx="5054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　</a:t>
            </a:r>
            <a:r>
              <a:rPr lang="en-US" sz="12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14.53 为 Gaia G 参照近似星等，非 V / 探测极限</a:t>
            </a:r>
            <a:endParaRPr lang="en-US" sz="1200"/>
          </a:p>
        </p:txBody>
      </p:sp>
      <p:sp>
        <p:nvSpPr>
          <p:cNvPr id="23" name="AutoShape 23"/>
          <p:cNvSpPr/>
          <p:nvPr/>
        </p:nvSpPr>
        <p:spPr>
          <a:xfrm>
            <a:off x="6299200" y="2794000"/>
            <a:ext cx="5054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en-US" sz="12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2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26 为未定身份候选，非 26 颗卫星 / 碎片、非完备</a:t>
            </a:r>
            <a:endParaRPr lang="en-US" sz="1200"/>
          </a:p>
        </p:txBody>
      </p:sp>
      <p:sp>
        <p:nvSpPr>
          <p:cNvPr id="24" name="AutoShape 24"/>
          <p:cNvSpPr/>
          <p:nvPr/>
        </p:nvSpPr>
        <p:spPr>
          <a:xfrm>
            <a:off x="6299200" y="3124200"/>
            <a:ext cx="5054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　</a:t>
            </a:r>
            <a:r>
              <a:rPr lang="en-US" sz="12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不报准确率 / 召回率：无真值、未做注入回收</a:t>
            </a:r>
            <a:endParaRPr lang="en-US" sz="1200"/>
          </a:p>
        </p:txBody>
      </p:sp>
      <p:sp>
        <p:nvSpPr>
          <p:cNvPr id="25" name="AutoShape 25"/>
          <p:cNvSpPr/>
          <p:nvPr/>
        </p:nvSpPr>
        <p:spPr>
          <a:xfrm>
            <a:off x="6299200" y="3454400"/>
            <a:ext cx="5054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r>
              <a:rPr lang="en-US" sz="12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2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504 km 是拍摄卫星高度，不推目标距离 / 身份</a:t>
            </a:r>
            <a:endParaRPr lang="en-US" sz="1200"/>
          </a:p>
        </p:txBody>
      </p:sp>
      <p:sp>
        <p:nvSpPr>
          <p:cNvPr id="26" name="AutoShape 26"/>
          <p:cNvSpPr/>
          <p:nvPr/>
        </p:nvSpPr>
        <p:spPr>
          <a:xfrm>
            <a:off x="6299200" y="3784600"/>
            <a:ext cx="5054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</a:t>
            </a:r>
            <a:r>
              <a:rPr lang="en-US" sz="12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2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轨迹为参考帧像素坐标，FITS 无 WCS、非赤经赤纬</a:t>
            </a:r>
            <a:endParaRPr lang="en-US" sz="1200"/>
          </a:p>
        </p:txBody>
      </p:sp>
      <p:sp>
        <p:nvSpPr>
          <p:cNvPr id="27" name="AutoShape 27"/>
          <p:cNvSpPr/>
          <p:nvPr/>
        </p:nvSpPr>
        <p:spPr>
          <a:xfrm>
            <a:off x="6299200" y="4114800"/>
            <a:ext cx="5054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en-US" sz="1200" b="1" i="0" u="none" strike="noStrike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2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实际画幅 4096×4096；f7 为演示帧，换帧需重跑</a:t>
            </a:r>
            <a:endParaRPr lang="en-US" sz="1200"/>
          </a:p>
        </p:txBody>
      </p:sp>
      <p:cxnSp>
        <p:nvCxnSpPr>
          <p:cNvPr id="28" name="Connector 28"/>
          <p:cNvCxnSpPr/>
          <p:nvPr/>
        </p:nvCxnSpPr>
        <p:spPr>
          <a:xfrm rot="-8637">
            <a:off x="6299208" y="4565650"/>
            <a:ext cx="5054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527800" y="4730750"/>
            <a:ext cx="5054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先界定能力边界，再谈结果——结论均可被复核与证伪。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09600" y="5467350"/>
            <a:ext cx="10972800" cy="508000"/>
          </a:xfrm>
          <a:prstGeom prst="roundRect">
            <a:avLst>
              <a:gd name="adj" fmla="val 0"/>
            </a:avLst>
          </a:prstGeom>
          <a:solidFill>
            <a:schemeClr val="bg2">
              <a:lumMod val="20000"/>
              <a:lumOff val="80000"/>
              <a:alpha val="60000"/>
            </a:schemeClr>
          </a:solidFill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38200" y="5588000"/>
            <a:ext cx="10515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下一步</a:t>
            </a:r>
            <a:r>
              <a:rPr lang="en-US" sz="1100" b="1" i="0" u="none" strike="noStrike">
                <a:solidFill>
                  <a:srgbClr val="4E9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100" b="0" i="0" u="none" strike="noStrike">
                <a:solidFill>
                  <a:srgbClr val="F1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注入回收实验量化完备性与虚警；补相机波段响应与严格星等误差传播；扩展多序列编目关联。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3978">
            <a:off x="609604" y="631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B1C9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609600" y="6400800"/>
            <a:ext cx="965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 19 届先进机器人及仿真技术大赛 · 仿真技术赛道 · 太空目标识别仿真组（赛题 B02）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972800" y="6400800"/>
            <a:ext cx="60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8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16 / 16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8" r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图片 7" descr="7b0a202020202266696c746572223a202230220a7d0a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CDFE0825-6DEF-4EF5-8246-60DE8C826C90}">
                <a14:imgProps xmlns:a14="http://schemas.microsoft.com/office/drawing/2010/main">
                  <a14:imgLayer r:embed="rId4">
                    <a14:imgEffect name="7"/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87095" y="2463800"/>
            <a:ext cx="14091920" cy="1784032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3" name="文本框 2"/>
          <p:cNvSpPr txBox="1"/>
          <p:nvPr/>
        </p:nvSpPr>
        <p:spPr>
          <a:xfrm>
            <a:off x="3651250" y="1019810"/>
            <a:ext cx="50152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80540" y="1326515"/>
            <a:ext cx="95440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恳请各位评委批评指正！</a:t>
            </a:r>
            <a:endParaRPr lang="zh-CN" altLang="en-US" sz="6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945130" y="3072765"/>
            <a:ext cx="7214235" cy="13944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参赛队伍：AstraVision</a:t>
            </a:r>
            <a:endParaRPr lang="en-US" sz="1800"/>
          </a:p>
          <a:p>
            <a:pPr marL="0" indent="0" algn="l">
              <a:lnSpc>
                <a:spcPct val="125000"/>
              </a:lnSpc>
            </a:pPr>
            <a:r>
              <a:rPr lang="en-US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指导教师：</a:t>
            </a:r>
            <a:r>
              <a:rPr lang="zh-CN" altLang="en-US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林家辉</a:t>
            </a:r>
            <a:endParaRPr lang="en-US" sz="18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参赛队员：</a:t>
            </a:r>
            <a:r>
              <a:rPr lang="zh-CN" altLang="en-US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周云翔</a:t>
            </a:r>
            <a:r>
              <a:rPr lang="en-US" altLang="zh-CN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聂竹唯</a:t>
            </a:r>
            <a:r>
              <a:rPr lang="en-US" altLang="zh-CN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叶博尔</a:t>
            </a:r>
            <a:r>
              <a:rPr lang="en-US" altLang="zh-CN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袁歆</a:t>
            </a:r>
            <a:r>
              <a:rPr lang="en-US" altLang="zh-CN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altLang="zh-CN" sz="18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altLang="zh-CN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       </a:t>
            </a:r>
            <a:r>
              <a:rPr lang="zh-CN" altLang="en-US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贺誉程</a:t>
            </a:r>
            <a:r>
              <a:rPr lang="en-US" altLang="zh-CN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80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王衍智</a:t>
            </a:r>
            <a:endParaRPr lang="en-US" sz="18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　</a:t>
            </a:r>
            <a:endParaRPr lang="en-US" sz="18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1800" b="0" i="0" u="none" strike="noStrike">
              <a:solidFill>
                <a:srgbClr val="9DB1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3"/>
          <p:cNvSpPr/>
          <p:nvPr/>
        </p:nvSpPr>
        <p:spPr>
          <a:xfrm>
            <a:off x="270510" y="217805"/>
            <a:ext cx="787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dirty="0" err="1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第十九届先进机器人及仿真技术大赛</a:t>
            </a:r>
            <a:r>
              <a:rPr lang="en-US" b="0" i="0" u="none" strike="noStrike" dirty="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b="0" i="0" u="none" strike="noStrike" dirty="0" err="1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仿真技术赛道</a:t>
            </a:r>
            <a:r>
              <a:rPr lang="en-US" b="0" i="0" u="none" strike="noStrike" dirty="0">
                <a:solidFill>
                  <a:srgbClr val="9DB1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太空目标识别仿真组（B02）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8095,&quot;width&quot;:22192}"/>
</p:tagLst>
</file>

<file path=ppt/tags/tag2.xml><?xml version="1.0" encoding="utf-8"?>
<p:tagLst xmlns:p="http://schemas.openxmlformats.org/presentationml/2006/main">
  <p:tag name="KSO_WM_UNIT_PLACING_PICTURE_USER_VIEWPORT" val="{&quot;height&quot;:13935,&quot;width&quot;:11004}"/>
</p:tagLst>
</file>

<file path=ppt/tags/tag3.xml><?xml version="1.0" encoding="utf-8"?>
<p:tagLst xmlns:p="http://schemas.openxmlformats.org/presentationml/2006/main">
  <p:tag name="KSO_WM_UNIT_PLACING_PICTURE_USER_VIEWPORT" val="{&quot;height&quot;:7677,&quot;width&quot;:18368}"/>
</p:tagLst>
</file>

<file path=ppt/tags/tag4.xml><?xml version="1.0" encoding="utf-8"?>
<p:tagLst xmlns:p="http://schemas.openxmlformats.org/presentationml/2006/main">
  <p:tag name="KSO_WM_UNIT_PLACING_PICTURE_USER_VIEWPORT" val="{&quot;height&quot;:13935,&quot;width&quot;:11004}"/>
</p:tagLst>
</file>

<file path=ppt/tags/tag5.xml><?xml version="1.0" encoding="utf-8"?>
<p:tagLst xmlns:p="http://schemas.openxmlformats.org/presentationml/2006/main">
  <p:tag name="KSO_WM_UNIT_PLACING_PICTURE_USER_VIEWPORT" val="{&quot;height&quot;:13935,&quot;width&quot;:11004}"/>
</p:tagLst>
</file>

<file path=ppt/tags/tag6.xml><?xml version="1.0" encoding="utf-8"?>
<p:tagLst xmlns:p="http://schemas.openxmlformats.org/presentationml/2006/main">
  <p:tag name="KSO_WM_UNIT_PLACING_PICTURE_USER_VIEWPORT" val="{&quot;height&quot;:13935,&quot;width&quot;:11004}"/>
</p:tagLst>
</file>

<file path=ppt/tags/tag7.xml><?xml version="1.0" encoding="utf-8"?>
<p:tagLst xmlns:p="http://schemas.openxmlformats.org/presentationml/2006/main">
  <p:tag name="KSO_WM_UNIT_PLACING_PICTURE_USER_VIEWPORT" val="{&quot;height&quot;:28095,&quot;width&quot;:22192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7804</Words>
  <Application>WPS 演示</Application>
  <PresentationFormat>宽屏</PresentationFormat>
  <Paragraphs>734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Cambria Math</vt:lpstr>
      <vt:lpstr>Consolas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Jourdelay.</cp:lastModifiedBy>
  <cp:revision>11</cp:revision>
  <dcterms:created xsi:type="dcterms:W3CDTF">2026-09-26T04:12:00Z</dcterms:created>
  <dcterms:modified xsi:type="dcterms:W3CDTF">2026-09-29T07:05:33Z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4F1F8F98DA8848B0A442B2015B8D418A_13</vt:lpwstr>
  </property>
</Properties>
</file>